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embeddedFontLst>
    <p:embeddedFont>
      <p:font typeface="Noto Sans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otoSans-bold.fntdata"/><Relationship Id="rId10" Type="http://schemas.openxmlformats.org/officeDocument/2006/relationships/font" Target="fonts/NotoSans-regular.fntdata"/><Relationship Id="rId13" Type="http://schemas.openxmlformats.org/officeDocument/2006/relationships/font" Target="fonts/NotoSans-boldItalic.fntdata"/><Relationship Id="rId12" Type="http://schemas.openxmlformats.org/officeDocument/2006/relationships/font" Target="fonts/Noto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cdce9ad058_0_16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g3cdce9ad058_0_16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cdce9ad058_0_16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dce9ad058_0_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cdce9ad058_0_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cdce9ad058_0_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dce9ad058_0_10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cdce9ad058_0_10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cdce9ad058_0_10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2ED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/>
          <p:nvPr/>
        </p:nvSpPr>
        <p:spPr>
          <a:xfrm>
            <a:off x="8538210" y="4814316"/>
            <a:ext cx="3429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D6158"/>
              </a:buClr>
              <a:buSzPts val="800"/>
              <a:buFont typeface="Noto Sans"/>
              <a:buNone/>
            </a:pPr>
            <a:r>
              <a:rPr b="0" i="0" lang="ja" sz="800" u="none" cap="none" strike="noStrike">
                <a:solidFill>
                  <a:srgbClr val="6D6158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" name="Google Shape;59;p16"/>
          <p:cNvSpPr/>
          <p:nvPr/>
        </p:nvSpPr>
        <p:spPr>
          <a:xfrm>
            <a:off x="438912" y="41220"/>
            <a:ext cx="7406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352F"/>
              </a:buClr>
              <a:buSzPts val="1800"/>
              <a:buFont typeface="Noto Sans"/>
              <a:buNone/>
            </a:pPr>
            <a:r>
              <a:rPr b="1" i="0" lang="ja" sz="1800" u="none" cap="none" strike="noStrike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ワイヤーフレーム</a:t>
            </a:r>
            <a:endParaRPr b="0" i="0" sz="1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60" name="Google Shape;60;p16"/>
          <p:cNvCxnSpPr/>
          <p:nvPr/>
        </p:nvCxnSpPr>
        <p:spPr>
          <a:xfrm>
            <a:off x="438912" y="795528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5D9C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16"/>
          <p:cNvSpPr/>
          <p:nvPr/>
        </p:nvSpPr>
        <p:spPr>
          <a:xfrm>
            <a:off x="378175" y="740899"/>
            <a:ext cx="8229600" cy="4219500"/>
          </a:xfrm>
          <a:prstGeom prst="roundRect">
            <a:avLst>
              <a:gd fmla="val 868" name="adj"/>
            </a:avLst>
          </a:prstGeom>
          <a:solidFill>
            <a:srgbClr val="FFFDFC"/>
          </a:solidFill>
          <a:ln cap="flat" cmpd="sng" w="9525">
            <a:solidFill>
              <a:srgbClr val="D8C5B1"/>
            </a:solidFill>
            <a:prstDash val="solid"/>
            <a:round/>
            <a:headEnd len="sm" w="sm" type="none"/>
            <a:tailEnd len="sm" w="sm" type="none"/>
          </a:ln>
          <a:effectLst>
            <a:outerShdw blurRad="13335" rotWithShape="0" algn="bl" dir="2700000" dist="4762">
              <a:srgbClr val="000000">
                <a:alpha val="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6"/>
          <p:cNvSpPr/>
          <p:nvPr/>
        </p:nvSpPr>
        <p:spPr>
          <a:xfrm>
            <a:off x="425200" y="823000"/>
            <a:ext cx="8092500" cy="288000"/>
          </a:xfrm>
          <a:prstGeom prst="roundRect">
            <a:avLst>
              <a:gd fmla="val 22727" name="adj"/>
            </a:avLst>
          </a:prstGeom>
          <a:solidFill>
            <a:srgbClr val="F1ECE7"/>
          </a:solidFill>
          <a:ln cap="flat" cmpd="sng" w="9525">
            <a:solidFill>
              <a:srgbClr val="F1E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6"/>
          <p:cNvSpPr/>
          <p:nvPr/>
        </p:nvSpPr>
        <p:spPr>
          <a:xfrm>
            <a:off x="466344" y="1004697"/>
            <a:ext cx="41100" cy="41100"/>
          </a:xfrm>
          <a:prstGeom prst="ellipse">
            <a:avLst/>
          </a:prstGeom>
          <a:solidFill>
            <a:srgbClr val="D6A6A0"/>
          </a:solidFill>
          <a:ln cap="flat" cmpd="sng" w="9525">
            <a:solidFill>
              <a:srgbClr val="D6A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6"/>
          <p:cNvSpPr/>
          <p:nvPr/>
        </p:nvSpPr>
        <p:spPr>
          <a:xfrm>
            <a:off x="548640" y="1004697"/>
            <a:ext cx="41100" cy="41100"/>
          </a:xfrm>
          <a:prstGeom prst="ellipse">
            <a:avLst/>
          </a:prstGeom>
          <a:solidFill>
            <a:srgbClr val="D8C5B1"/>
          </a:solidFill>
          <a:ln cap="flat" cmpd="sng" w="9525">
            <a:solidFill>
              <a:srgbClr val="D8C5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6"/>
          <p:cNvSpPr/>
          <p:nvPr/>
        </p:nvSpPr>
        <p:spPr>
          <a:xfrm>
            <a:off x="630936" y="1004697"/>
            <a:ext cx="41100" cy="41100"/>
          </a:xfrm>
          <a:prstGeom prst="ellipse">
            <a:avLst/>
          </a:prstGeom>
          <a:solidFill>
            <a:srgbClr val="A6B89F"/>
          </a:solidFill>
          <a:ln cap="flat" cmpd="sng" w="9525">
            <a:solidFill>
              <a:srgbClr val="A6B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6"/>
          <p:cNvSpPr/>
          <p:nvPr/>
        </p:nvSpPr>
        <p:spPr>
          <a:xfrm>
            <a:off x="507492" y="1179576"/>
            <a:ext cx="905100" cy="219300"/>
          </a:xfrm>
          <a:prstGeom prst="roundRect">
            <a:avLst>
              <a:gd fmla="val 18750" name="adj"/>
            </a:avLst>
          </a:prstGeom>
          <a:solidFill>
            <a:srgbClr val="F8EEEC"/>
          </a:solidFill>
          <a:ln cap="flat" cmpd="sng" w="14300">
            <a:solidFill>
              <a:srgbClr val="F8E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/>
          <p:nvPr/>
        </p:nvSpPr>
        <p:spPr>
          <a:xfrm>
            <a:off x="1508755" y="1179575"/>
            <a:ext cx="905100" cy="219300"/>
          </a:xfrm>
          <a:prstGeom prst="roundRect">
            <a:avLst>
              <a:gd fmla="val 18750" name="adj"/>
            </a:avLst>
          </a:prstGeom>
          <a:solidFill>
            <a:srgbClr val="EEF4EC"/>
          </a:solidFill>
          <a:ln cap="flat" cmpd="sng" w="9525">
            <a:solidFill>
              <a:srgbClr val="EEF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6"/>
          <p:cNvSpPr/>
          <p:nvPr/>
        </p:nvSpPr>
        <p:spPr>
          <a:xfrm>
            <a:off x="6516694" y="947248"/>
            <a:ext cx="411600" cy="150900"/>
          </a:xfrm>
          <a:prstGeom prst="roundRect">
            <a:avLst>
              <a:gd fmla="val 18750" name="adj"/>
            </a:avLst>
          </a:prstGeom>
          <a:solidFill>
            <a:srgbClr val="F5EFE9"/>
          </a:solidFill>
          <a:ln cap="flat" cmpd="sng" w="9525">
            <a:solidFill>
              <a:srgbClr val="F5EF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6"/>
          <p:cNvSpPr/>
          <p:nvPr/>
        </p:nvSpPr>
        <p:spPr>
          <a:xfrm>
            <a:off x="507492" y="1508760"/>
            <a:ext cx="1440300" cy="356700"/>
          </a:xfrm>
          <a:prstGeom prst="roundRect">
            <a:avLst>
              <a:gd fmla="val 9615" name="adj"/>
            </a:avLst>
          </a:prstGeom>
          <a:solidFill>
            <a:srgbClr val="F8EEEC"/>
          </a:solidFill>
          <a:ln cap="flat" cmpd="sng" w="9525">
            <a:solidFill>
              <a:srgbClr val="D6A6A0"/>
            </a:solidFill>
            <a:prstDash val="solid"/>
            <a:round/>
            <a:headEnd len="sm" w="sm" type="none"/>
            <a:tailEnd len="sm" w="sm" type="none"/>
          </a:ln>
          <a:effectLst>
            <a:outerShdw blurRad="13335" rotWithShape="0" algn="bl" dir="2700000" dist="4762">
              <a:srgbClr val="000000">
                <a:alpha val="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6"/>
          <p:cNvSpPr/>
          <p:nvPr/>
        </p:nvSpPr>
        <p:spPr>
          <a:xfrm>
            <a:off x="507492" y="1975104"/>
            <a:ext cx="1440300" cy="356700"/>
          </a:xfrm>
          <a:prstGeom prst="roundRect">
            <a:avLst>
              <a:gd fmla="val 9615" name="adj"/>
            </a:avLst>
          </a:prstGeom>
          <a:solidFill>
            <a:srgbClr val="F8EEEC"/>
          </a:solidFill>
          <a:ln cap="flat" cmpd="sng" w="9525">
            <a:solidFill>
              <a:srgbClr val="D6A6A0"/>
            </a:solidFill>
            <a:prstDash val="solid"/>
            <a:round/>
            <a:headEnd len="sm" w="sm" type="none"/>
            <a:tailEnd len="sm" w="sm" type="none"/>
          </a:ln>
          <a:effectLst>
            <a:outerShdw blurRad="13335" rotWithShape="0" algn="bl" dir="2700000" dist="4762">
              <a:srgbClr val="000000">
                <a:alpha val="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6"/>
          <p:cNvSpPr/>
          <p:nvPr/>
        </p:nvSpPr>
        <p:spPr>
          <a:xfrm>
            <a:off x="507492" y="2441448"/>
            <a:ext cx="1440300" cy="356700"/>
          </a:xfrm>
          <a:prstGeom prst="roundRect">
            <a:avLst>
              <a:gd fmla="val 9615" name="adj"/>
            </a:avLst>
          </a:prstGeom>
          <a:solidFill>
            <a:srgbClr val="FFF7F6"/>
          </a:solidFill>
          <a:ln cap="flat" cmpd="sng" w="9525">
            <a:solidFill>
              <a:srgbClr val="C98378"/>
            </a:solidFill>
            <a:prstDash val="solid"/>
            <a:round/>
            <a:headEnd len="sm" w="sm" type="none"/>
            <a:tailEnd len="sm" w="sm" type="none"/>
          </a:ln>
          <a:effectLst>
            <a:outerShdw blurRad="13335" rotWithShape="0" algn="bl" dir="2700000" dist="4762">
              <a:srgbClr val="000000">
                <a:alpha val="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/>
          <p:nvPr/>
        </p:nvSpPr>
        <p:spPr>
          <a:xfrm>
            <a:off x="507492" y="2907792"/>
            <a:ext cx="1440300" cy="356700"/>
          </a:xfrm>
          <a:prstGeom prst="roundRect">
            <a:avLst>
              <a:gd fmla="val 9615" name="adj"/>
            </a:avLst>
          </a:prstGeom>
          <a:solidFill>
            <a:srgbClr val="FFFFFF"/>
          </a:solidFill>
          <a:ln cap="flat" cmpd="sng" w="9525">
            <a:solidFill>
              <a:srgbClr val="D8C5B1"/>
            </a:solidFill>
            <a:prstDash val="solid"/>
            <a:round/>
            <a:headEnd len="sm" w="sm" type="none"/>
            <a:tailEnd len="sm" w="sm" type="none"/>
          </a:ln>
          <a:effectLst>
            <a:outerShdw blurRad="13335" rotWithShape="0" algn="bl" dir="2700000" dist="4762">
              <a:srgbClr val="000000">
                <a:alpha val="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/>
          <p:nvPr/>
        </p:nvSpPr>
        <p:spPr>
          <a:xfrm>
            <a:off x="507492" y="3374136"/>
            <a:ext cx="1440300" cy="356700"/>
          </a:xfrm>
          <a:prstGeom prst="roundRect">
            <a:avLst>
              <a:gd fmla="val 9615" name="adj"/>
            </a:avLst>
          </a:prstGeom>
          <a:solidFill>
            <a:srgbClr val="FFFFFF"/>
          </a:solidFill>
          <a:ln cap="flat" cmpd="sng" w="9525">
            <a:solidFill>
              <a:srgbClr val="D8C5B1"/>
            </a:solidFill>
            <a:prstDash val="solid"/>
            <a:round/>
            <a:headEnd len="sm" w="sm" type="none"/>
            <a:tailEnd len="sm" w="sm" type="none"/>
          </a:ln>
          <a:effectLst>
            <a:outerShdw blurRad="13335" rotWithShape="0" algn="bl" dir="2700000" dist="4762">
              <a:srgbClr val="000000">
                <a:alpha val="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2180850" y="1481325"/>
            <a:ext cx="3399600" cy="2657100"/>
          </a:xfrm>
          <a:prstGeom prst="roundRect">
            <a:avLst>
              <a:gd fmla="val 1064" name="adj"/>
            </a:avLst>
          </a:prstGeom>
          <a:solidFill>
            <a:srgbClr val="FCFBFA"/>
          </a:solidFill>
          <a:ln cap="flat" cmpd="sng" w="9525">
            <a:solidFill>
              <a:srgbClr val="D8C5B1"/>
            </a:solidFill>
            <a:prstDash val="solid"/>
            <a:round/>
            <a:headEnd len="sm" w="sm" type="none"/>
            <a:tailEnd len="sm" w="sm" type="none"/>
          </a:ln>
          <a:effectLst>
            <a:outerShdw blurRad="13335" rotWithShape="0" algn="bl" dir="2700000" dist="4762">
              <a:srgbClr val="000000">
                <a:alpha val="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/>
          <p:nvPr/>
        </p:nvSpPr>
        <p:spPr>
          <a:xfrm>
            <a:off x="2345432" y="1625413"/>
            <a:ext cx="2457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352F"/>
              </a:buClr>
              <a:buSzPts val="1200"/>
              <a:buFont typeface="Noto Sans"/>
              <a:buNone/>
            </a:pPr>
            <a:r>
              <a:rPr b="1" i="0" lang="ja" sz="1200" u="none" cap="none" strike="noStrike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Q</a:t>
            </a:r>
            <a:r>
              <a:rPr b="1" lang="ja" sz="1200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？</a:t>
            </a:r>
            <a:r>
              <a:rPr b="1" i="0" lang="ja" sz="1200" u="none" cap="none" strike="noStrike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1" lang="ja" sz="1200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？？？？？</a:t>
            </a:r>
            <a:r>
              <a:rPr b="1" i="0" lang="ja" sz="1200" u="none" cap="none" strike="noStrike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？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2345425" y="1851650"/>
            <a:ext cx="3086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6158"/>
              </a:buClr>
              <a:buSzPts val="700"/>
              <a:buFont typeface="Noto Sans"/>
              <a:buNone/>
            </a:pPr>
            <a:r>
              <a:rPr b="0" i="0" lang="ja" sz="700" u="none" cap="none" strike="noStrike">
                <a:solidFill>
                  <a:srgbClr val="6D6158"/>
                </a:solidFill>
                <a:latin typeface="Noto Sans"/>
                <a:ea typeface="Noto Sans"/>
                <a:cs typeface="Noto Sans"/>
                <a:sym typeface="Noto Sans"/>
              </a:rPr>
              <a:t>固定パネル内で選択。3つの画像つき選択肢 + 中立ボタン2つで構成。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77" name="Google Shape;77;p16" title="Gemini_Generated_Image_4gi85j4gi85j4gi8.png"/>
          <p:cNvPicPr preferRelativeResize="0"/>
          <p:nvPr/>
        </p:nvPicPr>
        <p:blipFill rotWithShape="1">
          <a:blip r:embed="rId3">
            <a:alphaModFix amt="60000"/>
          </a:blip>
          <a:srcRect b="38782" l="0" r="0" t="22762"/>
          <a:stretch/>
        </p:blipFill>
        <p:spPr>
          <a:xfrm>
            <a:off x="2345438" y="2096828"/>
            <a:ext cx="3086100" cy="42864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2372963" y="2091656"/>
            <a:ext cx="30588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52F"/>
              </a:buClr>
              <a:buSzPts val="800"/>
              <a:buFont typeface="Noto Sans"/>
              <a:buNone/>
            </a:pPr>
            <a:r>
              <a:rPr b="1" i="0" lang="ja" sz="1100" u="none" cap="none" strike="noStrike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選択肢A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2359144" y="2674613"/>
            <a:ext cx="3086100" cy="397800"/>
          </a:xfrm>
          <a:prstGeom prst="roundRect">
            <a:avLst>
              <a:gd fmla="val 6897" name="adj"/>
            </a:avLst>
          </a:prstGeom>
          <a:solidFill>
            <a:srgbClr val="EEF4EC"/>
          </a:solidFill>
          <a:ln cap="flat" cmpd="sng" w="9525">
            <a:solidFill>
              <a:srgbClr val="E5D9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2482596" y="2818638"/>
            <a:ext cx="288000" cy="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6158"/>
              </a:buClr>
              <a:buSzPts val="600"/>
              <a:buFont typeface="Noto Sans"/>
              <a:buNone/>
            </a:pPr>
            <a:r>
              <a:rPr b="0" i="0" lang="ja" sz="600" u="none" cap="none" strike="noStrike">
                <a:solidFill>
                  <a:srgbClr val="6D6158"/>
                </a:solidFill>
                <a:latin typeface="Noto Sans"/>
                <a:ea typeface="Noto Sans"/>
                <a:cs typeface="Noto Sans"/>
                <a:sym typeface="Noto Sans"/>
              </a:rPr>
              <a:t>画像2</a:t>
            </a:r>
            <a:endParaRPr b="0" i="0" sz="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2372963" y="2688319"/>
            <a:ext cx="3058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52F"/>
              </a:buClr>
              <a:buSzPts val="800"/>
              <a:buFont typeface="Noto Sans"/>
              <a:buNone/>
            </a:pPr>
            <a:r>
              <a:rPr b="1" i="0" lang="ja" sz="1100" u="none" cap="none" strike="noStrike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選択肢B</a:t>
            </a:r>
            <a:endParaRPr b="1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2359144" y="3209550"/>
            <a:ext cx="3072300" cy="397800"/>
          </a:xfrm>
          <a:prstGeom prst="roundRect">
            <a:avLst>
              <a:gd fmla="val 6897" name="adj"/>
            </a:avLst>
          </a:prstGeom>
          <a:solidFill>
            <a:srgbClr val="EEF5F9"/>
          </a:solidFill>
          <a:ln cap="flat" cmpd="sng" w="9525">
            <a:solidFill>
              <a:srgbClr val="E5D9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2482596" y="3353562"/>
            <a:ext cx="288000" cy="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6158"/>
              </a:buClr>
              <a:buSzPts val="600"/>
              <a:buFont typeface="Noto Sans"/>
              <a:buNone/>
            </a:pPr>
            <a:r>
              <a:rPr b="0" i="0" lang="ja" sz="600" u="none" cap="none" strike="noStrike">
                <a:solidFill>
                  <a:srgbClr val="6D6158"/>
                </a:solidFill>
                <a:latin typeface="Noto Sans"/>
                <a:ea typeface="Noto Sans"/>
                <a:cs typeface="Noto Sans"/>
                <a:sym typeface="Noto Sans"/>
              </a:rPr>
              <a:t>画像3</a:t>
            </a:r>
            <a:endParaRPr b="0" i="0" sz="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2372888" y="3223256"/>
            <a:ext cx="3058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52F"/>
              </a:buClr>
              <a:buSzPts val="800"/>
              <a:buFont typeface="Noto Sans"/>
              <a:buNone/>
            </a:pPr>
            <a:r>
              <a:rPr b="1" i="0" lang="ja" sz="1100" u="none" cap="none" strike="noStrike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選択肢C</a:t>
            </a:r>
            <a:endParaRPr b="1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2359143" y="3806194"/>
            <a:ext cx="1339200" cy="233100"/>
          </a:xfrm>
          <a:prstGeom prst="roundRect">
            <a:avLst>
              <a:gd fmla="val 11765" name="adj"/>
            </a:avLst>
          </a:prstGeom>
          <a:solidFill>
            <a:srgbClr val="F7F2ED"/>
          </a:solidFill>
          <a:ln cap="flat" cmpd="sng" w="9525">
            <a:solidFill>
              <a:srgbClr val="D8C5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2359163" y="3802819"/>
            <a:ext cx="1339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52F"/>
              </a:buClr>
              <a:buSzPts val="700"/>
              <a:buFont typeface="Noto Sans"/>
              <a:buNone/>
            </a:pPr>
            <a:r>
              <a:rPr b="0" i="0" lang="ja" sz="700" u="none" cap="none" strike="noStrike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全部好き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3926006" y="3826838"/>
            <a:ext cx="1440300" cy="233100"/>
          </a:xfrm>
          <a:prstGeom prst="roundRect">
            <a:avLst>
              <a:gd fmla="val 11765" name="adj"/>
            </a:avLst>
          </a:prstGeom>
          <a:solidFill>
            <a:srgbClr val="FCFBFA"/>
          </a:solidFill>
          <a:ln cap="flat" cmpd="sng" w="9525">
            <a:solidFill>
              <a:srgbClr val="D8C5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3926006" y="3826856"/>
            <a:ext cx="1399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52F"/>
              </a:buClr>
              <a:buSzPts val="700"/>
              <a:buFont typeface="Noto Sans"/>
              <a:buNone/>
            </a:pPr>
            <a:r>
              <a:rPr b="0" i="0" lang="ja" sz="700" u="none" cap="none" strike="noStrike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この中にはない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1966650" y="4306900"/>
            <a:ext cx="28794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352F"/>
              </a:buClr>
              <a:buSzPts val="800"/>
              <a:buFont typeface="Noto Sans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4845899" y="4361721"/>
            <a:ext cx="1339200" cy="397800"/>
          </a:xfrm>
          <a:prstGeom prst="roundRect">
            <a:avLst>
              <a:gd fmla="val 18750" name="adj"/>
            </a:avLst>
          </a:prstGeom>
          <a:solidFill>
            <a:srgbClr val="F8EEEC"/>
          </a:solidFill>
          <a:ln cap="flat" cmpd="sng" w="9525">
            <a:solidFill>
              <a:srgbClr val="F8E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4919699" y="4416613"/>
            <a:ext cx="11916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5C56"/>
              </a:buClr>
              <a:buSzPts val="700"/>
              <a:buFont typeface="Noto Sans"/>
              <a:buNone/>
            </a:pPr>
            <a:r>
              <a:rPr b="0" i="0" lang="ja" sz="700" u="none" cap="none" strike="noStrike">
                <a:solidFill>
                  <a:srgbClr val="8C5C56"/>
                </a:solidFill>
                <a:latin typeface="Noto Sans"/>
                <a:ea typeface="Noto Sans"/>
                <a:cs typeface="Noto Sans"/>
                <a:sym typeface="Noto Sans"/>
              </a:rPr>
              <a:t>次のステップへ進む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5882375" y="1227575"/>
            <a:ext cx="2457900" cy="235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rgbClr val="D8C5B1"/>
            </a:solidFill>
            <a:prstDash val="solid"/>
            <a:round/>
            <a:headEnd len="sm" w="sm" type="none"/>
            <a:tailEnd len="sm" w="sm" type="none"/>
          </a:ln>
          <a:effectLst>
            <a:outerShdw blurRad="13335" rotWithShape="0" algn="bl" dir="2700000" dist="4762">
              <a:srgbClr val="000000">
                <a:alpha val="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93" name="Google Shape;93;p16"/>
          <p:cNvSpPr txBox="1"/>
          <p:nvPr/>
        </p:nvSpPr>
        <p:spPr>
          <a:xfrm>
            <a:off x="5877244" y="1551525"/>
            <a:ext cx="24579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/>
              <a:t>店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/>
              <a:t>舗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/>
              <a:t>の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/>
              <a:t>雰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/>
              <a:t>囲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/>
              <a:t>気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/>
              <a:t>画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/>
              <a:t>像</a:t>
            </a:r>
            <a:endParaRPr sz="1200"/>
          </a:p>
        </p:txBody>
      </p:sp>
      <p:sp>
        <p:nvSpPr>
          <p:cNvPr id="94" name="Google Shape;94;p16"/>
          <p:cNvSpPr/>
          <p:nvPr/>
        </p:nvSpPr>
        <p:spPr>
          <a:xfrm>
            <a:off x="6362400" y="3696398"/>
            <a:ext cx="2059200" cy="1117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A6B89F"/>
          </a:solidFill>
          <a:ln cap="flat" cmpd="sng" w="9525">
            <a:solidFill>
              <a:srgbClr val="D8C5B1"/>
            </a:solidFill>
            <a:prstDash val="solid"/>
            <a:round/>
            <a:headEnd len="sm" w="sm" type="none"/>
            <a:tailEnd len="sm" w="sm" type="none"/>
          </a:ln>
          <a:effectLst>
            <a:outerShdw blurRad="13335" rotWithShape="0" algn="bl" dir="2700000" dist="4762">
              <a:srgbClr val="000000">
                <a:alpha val="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95" name="Google Shape;95;p16"/>
          <p:cNvSpPr txBox="1"/>
          <p:nvPr/>
        </p:nvSpPr>
        <p:spPr>
          <a:xfrm>
            <a:off x="6363013" y="3709300"/>
            <a:ext cx="20283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/>
              <a:t>豆知識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/>
              <a:t>ランダムで20パターン程度の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/>
              <a:t>香水に関する豆知識が表示される。将来的な拡張要素。日にちに応じた豆知識も。</a:t>
            </a:r>
            <a:endParaRPr sz="1100"/>
          </a:p>
        </p:txBody>
      </p:sp>
      <p:sp>
        <p:nvSpPr>
          <p:cNvPr id="96" name="Google Shape;96;p16"/>
          <p:cNvSpPr/>
          <p:nvPr/>
        </p:nvSpPr>
        <p:spPr>
          <a:xfrm>
            <a:off x="438912" y="603504"/>
            <a:ext cx="80925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6158"/>
              </a:buClr>
              <a:buSzPts val="800"/>
              <a:buFont typeface="Noto Sans"/>
              <a:buNone/>
            </a:pPr>
            <a:r>
              <a:rPr b="0" i="0" lang="ja" sz="800" u="none" cap="none" strike="noStrike">
                <a:solidFill>
                  <a:srgbClr val="6D6158"/>
                </a:solidFill>
                <a:latin typeface="Noto Sans"/>
                <a:ea typeface="Noto Sans"/>
                <a:cs typeface="Noto Sans"/>
                <a:sym typeface="Noto Sans"/>
              </a:rPr>
              <a:t>左は進行ナビ、右は固定回答パネル。回答すると次の質問へ進み、前の質問にも戻れる。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507450" y="3929550"/>
            <a:ext cx="144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0A0A0A"/>
                </a:solidFill>
                <a:highlight>
                  <a:srgbClr val="FFFFFF"/>
                </a:highlight>
              </a:rPr>
              <a:t>ブラウザサイズは</a:t>
            </a:r>
            <a:endParaRPr b="1" sz="12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0A0A0A"/>
                </a:solidFill>
                <a:highlight>
                  <a:srgbClr val="FFFFFF"/>
                </a:highlight>
              </a:rPr>
              <a:t>「12：6.5」</a:t>
            </a:r>
            <a:endParaRPr b="1" sz="12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0A0A0A"/>
                </a:solidFill>
                <a:highlight>
                  <a:srgbClr val="FFFFFF"/>
                </a:highlight>
              </a:rPr>
              <a:t>の想定</a:t>
            </a:r>
            <a:endParaRPr b="1" sz="1200">
              <a:solidFill>
                <a:srgbClr val="0A0A0A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2ED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/>
          <p:nvPr/>
        </p:nvSpPr>
        <p:spPr>
          <a:xfrm>
            <a:off x="8538210" y="4814316"/>
            <a:ext cx="3429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D6158"/>
              </a:buClr>
              <a:buSzPts val="800"/>
              <a:buFont typeface="Noto Sans"/>
              <a:buNone/>
            </a:pPr>
            <a:r>
              <a:rPr b="0" i="0" lang="ja" sz="800" u="none" cap="none" strike="noStrike">
                <a:solidFill>
                  <a:srgbClr val="6D6158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438912" y="41220"/>
            <a:ext cx="7406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352F"/>
              </a:buClr>
              <a:buSzPts val="1800"/>
              <a:buFont typeface="Noto Sans"/>
              <a:buNone/>
            </a:pPr>
            <a:r>
              <a:rPr b="1" i="0" lang="ja" sz="1800" u="none" cap="none" strike="noStrike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STEP1 </a:t>
            </a:r>
            <a:r>
              <a:rPr b="1" lang="ja" sz="1800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例</a:t>
            </a:r>
            <a:r>
              <a:rPr b="1" i="0" lang="ja" sz="1800" u="none" cap="none" strike="noStrike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（固定5問ページ）</a:t>
            </a:r>
            <a:endParaRPr b="0" i="0" sz="1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05" name="Google Shape;105;p17"/>
          <p:cNvCxnSpPr/>
          <p:nvPr/>
        </p:nvCxnSpPr>
        <p:spPr>
          <a:xfrm>
            <a:off x="438912" y="795528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5D9C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17"/>
          <p:cNvSpPr/>
          <p:nvPr/>
        </p:nvSpPr>
        <p:spPr>
          <a:xfrm>
            <a:off x="378175" y="740899"/>
            <a:ext cx="8229600" cy="4219500"/>
          </a:xfrm>
          <a:prstGeom prst="roundRect">
            <a:avLst>
              <a:gd fmla="val 868" name="adj"/>
            </a:avLst>
          </a:prstGeom>
          <a:solidFill>
            <a:srgbClr val="FFFDFC"/>
          </a:solidFill>
          <a:ln cap="flat" cmpd="sng" w="9525">
            <a:solidFill>
              <a:srgbClr val="D8C5B1"/>
            </a:solidFill>
            <a:prstDash val="solid"/>
            <a:round/>
            <a:headEnd len="sm" w="sm" type="none"/>
            <a:tailEnd len="sm" w="sm" type="none"/>
          </a:ln>
          <a:effectLst>
            <a:outerShdw blurRad="13335" rotWithShape="0" algn="bl" dir="2700000" dist="4762">
              <a:srgbClr val="000000">
                <a:alpha val="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7"/>
          <p:cNvSpPr/>
          <p:nvPr/>
        </p:nvSpPr>
        <p:spPr>
          <a:xfrm>
            <a:off x="425200" y="823000"/>
            <a:ext cx="8092500" cy="288000"/>
          </a:xfrm>
          <a:prstGeom prst="roundRect">
            <a:avLst>
              <a:gd fmla="val 22727" name="adj"/>
            </a:avLst>
          </a:prstGeom>
          <a:solidFill>
            <a:srgbClr val="F1ECE7"/>
          </a:solidFill>
          <a:ln cap="flat" cmpd="sng" w="9525">
            <a:solidFill>
              <a:srgbClr val="F1E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466344" y="1004697"/>
            <a:ext cx="41100" cy="41100"/>
          </a:xfrm>
          <a:prstGeom prst="ellipse">
            <a:avLst/>
          </a:prstGeom>
          <a:solidFill>
            <a:srgbClr val="D6A6A0"/>
          </a:solidFill>
          <a:ln cap="flat" cmpd="sng" w="9525">
            <a:solidFill>
              <a:srgbClr val="D6A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548640" y="1004697"/>
            <a:ext cx="41100" cy="41100"/>
          </a:xfrm>
          <a:prstGeom prst="ellipse">
            <a:avLst/>
          </a:prstGeom>
          <a:solidFill>
            <a:srgbClr val="D8C5B1"/>
          </a:solidFill>
          <a:ln cap="flat" cmpd="sng" w="9525">
            <a:solidFill>
              <a:srgbClr val="D8C5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630936" y="1004697"/>
            <a:ext cx="41100" cy="41100"/>
          </a:xfrm>
          <a:prstGeom prst="ellipse">
            <a:avLst/>
          </a:prstGeom>
          <a:solidFill>
            <a:srgbClr val="A6B89F"/>
          </a:solidFill>
          <a:ln cap="flat" cmpd="sng" w="9525">
            <a:solidFill>
              <a:srgbClr val="A6B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507492" y="1179576"/>
            <a:ext cx="905100" cy="219300"/>
          </a:xfrm>
          <a:prstGeom prst="roundRect">
            <a:avLst>
              <a:gd fmla="val 18750" name="adj"/>
            </a:avLst>
          </a:prstGeom>
          <a:solidFill>
            <a:srgbClr val="F8EEEC"/>
          </a:solidFill>
          <a:ln cap="flat" cmpd="sng" w="14300">
            <a:solidFill>
              <a:srgbClr val="F8E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548640" y="1227582"/>
            <a:ext cx="8232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52F"/>
              </a:buClr>
              <a:buSzPts val="700"/>
              <a:buFont typeface="Noto Sans"/>
              <a:buNone/>
            </a:pPr>
            <a:r>
              <a:rPr b="0" i="0" lang="ja" sz="700" u="none" cap="none" strike="noStrike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STEP1 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1508749" y="1179575"/>
            <a:ext cx="905100" cy="219300"/>
          </a:xfrm>
          <a:prstGeom prst="roundRect">
            <a:avLst>
              <a:gd fmla="val 18750" name="adj"/>
            </a:avLst>
          </a:prstGeom>
          <a:solidFill>
            <a:srgbClr val="EEF4EC"/>
          </a:solidFill>
          <a:ln cap="flat" cmpd="sng" w="9525">
            <a:solidFill>
              <a:srgbClr val="EEF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7"/>
          <p:cNvSpPr/>
          <p:nvPr/>
        </p:nvSpPr>
        <p:spPr>
          <a:xfrm>
            <a:off x="1549904" y="1227575"/>
            <a:ext cx="8232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52F"/>
              </a:buClr>
              <a:buSzPts val="700"/>
              <a:buFont typeface="Noto Sans"/>
              <a:buNone/>
            </a:pPr>
            <a:r>
              <a:rPr b="0" i="0" lang="ja" sz="700" u="none" cap="none" strike="noStrike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STEP2 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6516694" y="947248"/>
            <a:ext cx="411600" cy="150900"/>
          </a:xfrm>
          <a:prstGeom prst="roundRect">
            <a:avLst>
              <a:gd fmla="val 18750" name="adj"/>
            </a:avLst>
          </a:prstGeom>
          <a:solidFill>
            <a:srgbClr val="F5EFE9"/>
          </a:solidFill>
          <a:ln cap="flat" cmpd="sng" w="9525">
            <a:solidFill>
              <a:srgbClr val="F5EF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507492" y="1508760"/>
            <a:ext cx="1440300" cy="356700"/>
          </a:xfrm>
          <a:prstGeom prst="roundRect">
            <a:avLst>
              <a:gd fmla="val 9615" name="adj"/>
            </a:avLst>
          </a:prstGeom>
          <a:solidFill>
            <a:srgbClr val="F8EEEC"/>
          </a:solidFill>
          <a:ln cap="flat" cmpd="sng" w="9525">
            <a:solidFill>
              <a:srgbClr val="D6A6A0"/>
            </a:solidFill>
            <a:prstDash val="solid"/>
            <a:round/>
            <a:headEnd len="sm" w="sm" type="none"/>
            <a:tailEnd len="sm" w="sm" type="none"/>
          </a:ln>
          <a:effectLst>
            <a:outerShdw blurRad="13335" rotWithShape="0" algn="bl" dir="2700000" dist="4762">
              <a:srgbClr val="000000">
                <a:alpha val="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576072" y="1604772"/>
            <a:ext cx="13029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52F"/>
              </a:buClr>
              <a:buSzPts val="800"/>
              <a:buFont typeface="Noto Sans"/>
              <a:buNone/>
            </a:pPr>
            <a:r>
              <a:rPr b="0" i="0" lang="ja" sz="800" u="none" cap="none" strike="noStrike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Q1 惹かれる香り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507492" y="1975104"/>
            <a:ext cx="1440300" cy="356700"/>
          </a:xfrm>
          <a:prstGeom prst="roundRect">
            <a:avLst>
              <a:gd fmla="val 9615" name="adj"/>
            </a:avLst>
          </a:prstGeom>
          <a:solidFill>
            <a:srgbClr val="F8EEEC"/>
          </a:solidFill>
          <a:ln cap="flat" cmpd="sng" w="9525">
            <a:solidFill>
              <a:srgbClr val="D6A6A0"/>
            </a:solidFill>
            <a:prstDash val="solid"/>
            <a:round/>
            <a:headEnd len="sm" w="sm" type="none"/>
            <a:tailEnd len="sm" w="sm" type="none"/>
          </a:ln>
          <a:effectLst>
            <a:outerShdw blurRad="13335" rotWithShape="0" algn="bl" dir="2700000" dist="4762">
              <a:srgbClr val="000000">
                <a:alpha val="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576072" y="2071116"/>
            <a:ext cx="13029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52F"/>
              </a:buClr>
              <a:buSzPts val="800"/>
              <a:buFont typeface="Noto Sans"/>
              <a:buNone/>
            </a:pPr>
            <a:r>
              <a:rPr b="0" i="0" lang="ja" sz="800" u="none" cap="none" strike="noStrike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Q2 好きな色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507492" y="2441448"/>
            <a:ext cx="1440300" cy="356700"/>
          </a:xfrm>
          <a:prstGeom prst="roundRect">
            <a:avLst>
              <a:gd fmla="val 9615" name="adj"/>
            </a:avLst>
          </a:prstGeom>
          <a:solidFill>
            <a:srgbClr val="FFF7F6"/>
          </a:solidFill>
          <a:ln cap="flat" cmpd="sng" w="9525">
            <a:solidFill>
              <a:srgbClr val="C98378"/>
            </a:solidFill>
            <a:prstDash val="solid"/>
            <a:round/>
            <a:headEnd len="sm" w="sm" type="none"/>
            <a:tailEnd len="sm" w="sm" type="none"/>
          </a:ln>
          <a:effectLst>
            <a:outerShdw blurRad="13335" rotWithShape="0" algn="bl" dir="2700000" dist="4762">
              <a:srgbClr val="000000">
                <a:alpha val="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576072" y="2537460"/>
            <a:ext cx="13029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52F"/>
              </a:buClr>
              <a:buSzPts val="800"/>
              <a:buFont typeface="Noto Sans"/>
              <a:buNone/>
            </a:pPr>
            <a:r>
              <a:rPr b="0" i="0" lang="ja" sz="800" u="none" cap="none" strike="noStrike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Q3 なりたい気分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507492" y="2907792"/>
            <a:ext cx="1440300" cy="356700"/>
          </a:xfrm>
          <a:prstGeom prst="roundRect">
            <a:avLst>
              <a:gd fmla="val 9615" name="adj"/>
            </a:avLst>
          </a:prstGeom>
          <a:solidFill>
            <a:srgbClr val="FFFFFF"/>
          </a:solidFill>
          <a:ln cap="flat" cmpd="sng" w="9525">
            <a:solidFill>
              <a:srgbClr val="D8C5B1"/>
            </a:solidFill>
            <a:prstDash val="solid"/>
            <a:round/>
            <a:headEnd len="sm" w="sm" type="none"/>
            <a:tailEnd len="sm" w="sm" type="none"/>
          </a:ln>
          <a:effectLst>
            <a:outerShdw blurRad="13335" rotWithShape="0" algn="bl" dir="2700000" dist="4762">
              <a:srgbClr val="000000">
                <a:alpha val="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576072" y="3003804"/>
            <a:ext cx="13029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52F"/>
              </a:buClr>
              <a:buSzPts val="800"/>
              <a:buFont typeface="Noto Sans"/>
              <a:buNone/>
            </a:pPr>
            <a:r>
              <a:rPr b="0" i="0" lang="ja" sz="800" u="none" cap="none" strike="noStrike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Q4 使いたい時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507492" y="3374136"/>
            <a:ext cx="1440300" cy="356700"/>
          </a:xfrm>
          <a:prstGeom prst="roundRect">
            <a:avLst>
              <a:gd fmla="val 9615" name="adj"/>
            </a:avLst>
          </a:prstGeom>
          <a:solidFill>
            <a:srgbClr val="FFFFFF"/>
          </a:solidFill>
          <a:ln cap="flat" cmpd="sng" w="9525">
            <a:solidFill>
              <a:srgbClr val="D8C5B1"/>
            </a:solidFill>
            <a:prstDash val="solid"/>
            <a:round/>
            <a:headEnd len="sm" w="sm" type="none"/>
            <a:tailEnd len="sm" w="sm" type="none"/>
          </a:ln>
          <a:effectLst>
            <a:outerShdw blurRad="13335" rotWithShape="0" algn="bl" dir="2700000" dist="4762">
              <a:srgbClr val="000000">
                <a:alpha val="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576072" y="3470148"/>
            <a:ext cx="13029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52F"/>
              </a:buClr>
              <a:buSzPts val="800"/>
              <a:buFont typeface="Noto Sans"/>
              <a:buNone/>
            </a:pPr>
            <a:r>
              <a:rPr b="0" i="0" lang="ja" sz="800" u="none" cap="none" strike="noStrike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Q5 好きな音楽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2180850" y="1481325"/>
            <a:ext cx="3399600" cy="2657100"/>
          </a:xfrm>
          <a:prstGeom prst="roundRect">
            <a:avLst>
              <a:gd fmla="val 1064" name="adj"/>
            </a:avLst>
          </a:prstGeom>
          <a:solidFill>
            <a:srgbClr val="FCFBFA"/>
          </a:solidFill>
          <a:ln cap="flat" cmpd="sng" w="9525">
            <a:solidFill>
              <a:srgbClr val="D8C5B1"/>
            </a:solidFill>
            <a:prstDash val="solid"/>
            <a:round/>
            <a:headEnd len="sm" w="sm" type="none"/>
            <a:tailEnd len="sm" w="sm" type="none"/>
          </a:ln>
          <a:effectLst>
            <a:outerShdw blurRad="13335" rotWithShape="0" algn="bl" dir="2700000" dist="4762">
              <a:srgbClr val="000000">
                <a:alpha val="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2345432" y="1625413"/>
            <a:ext cx="2457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352F"/>
              </a:buClr>
              <a:buSzPts val="1200"/>
              <a:buFont typeface="Noto Sans"/>
              <a:buNone/>
            </a:pPr>
            <a:r>
              <a:rPr b="1" i="0" lang="ja" sz="1200" u="none" cap="none" strike="noStrike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Q3 どんな気分になりたいですか？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2345425" y="1851650"/>
            <a:ext cx="3086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6158"/>
              </a:buClr>
              <a:buSzPts val="700"/>
              <a:buFont typeface="Noto Sans"/>
              <a:buNone/>
            </a:pPr>
            <a:r>
              <a:rPr b="0" i="0" lang="ja" sz="700" u="none" cap="none" strike="noStrike">
                <a:solidFill>
                  <a:srgbClr val="6D6158"/>
                </a:solidFill>
                <a:latin typeface="Noto Sans"/>
                <a:ea typeface="Noto Sans"/>
                <a:cs typeface="Noto Sans"/>
                <a:sym typeface="Noto Sans"/>
              </a:rPr>
              <a:t>固定パネル内で選択。3つの画像つき選択肢 + 中立ボタン2つで構成。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29" name="Google Shape;129;p17" title="Gemini_Generated_Image_4gi85j4gi85j4gi8.png"/>
          <p:cNvPicPr preferRelativeResize="0"/>
          <p:nvPr/>
        </p:nvPicPr>
        <p:blipFill rotWithShape="1">
          <a:blip r:embed="rId3">
            <a:alphaModFix amt="60000"/>
          </a:blip>
          <a:srcRect b="38782" l="0" r="0" t="22762"/>
          <a:stretch/>
        </p:blipFill>
        <p:spPr>
          <a:xfrm>
            <a:off x="2345438" y="2096828"/>
            <a:ext cx="3086100" cy="42864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/>
          <p:nvPr/>
        </p:nvSpPr>
        <p:spPr>
          <a:xfrm>
            <a:off x="2372963" y="2091656"/>
            <a:ext cx="30588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52F"/>
              </a:buClr>
              <a:buSzPts val="800"/>
              <a:buFont typeface="Noto Sans"/>
              <a:buNone/>
            </a:pPr>
            <a:r>
              <a:rPr b="1" i="0" lang="ja" sz="1100" u="none" cap="none" strike="noStrike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選択肢A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2359144" y="2674613"/>
            <a:ext cx="3086100" cy="397800"/>
          </a:xfrm>
          <a:prstGeom prst="roundRect">
            <a:avLst>
              <a:gd fmla="val 6897" name="adj"/>
            </a:avLst>
          </a:prstGeom>
          <a:solidFill>
            <a:srgbClr val="EEF4EC"/>
          </a:solidFill>
          <a:ln cap="flat" cmpd="sng" w="9525">
            <a:solidFill>
              <a:srgbClr val="E5D9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2482596" y="2818638"/>
            <a:ext cx="288000" cy="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6158"/>
              </a:buClr>
              <a:buSzPts val="600"/>
              <a:buFont typeface="Noto Sans"/>
              <a:buNone/>
            </a:pPr>
            <a:r>
              <a:rPr b="0" i="0" lang="ja" sz="600" u="none" cap="none" strike="noStrike">
                <a:solidFill>
                  <a:srgbClr val="6D6158"/>
                </a:solidFill>
                <a:latin typeface="Noto Sans"/>
                <a:ea typeface="Noto Sans"/>
                <a:cs typeface="Noto Sans"/>
                <a:sym typeface="Noto Sans"/>
              </a:rPr>
              <a:t>画像2</a:t>
            </a:r>
            <a:endParaRPr b="0" i="0" sz="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2372963" y="2688319"/>
            <a:ext cx="3058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52F"/>
              </a:buClr>
              <a:buSzPts val="800"/>
              <a:buFont typeface="Noto Sans"/>
              <a:buNone/>
            </a:pPr>
            <a:r>
              <a:rPr b="1" i="0" lang="ja" sz="1100" u="none" cap="none" strike="noStrike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選択肢B</a:t>
            </a:r>
            <a:endParaRPr b="1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2359144" y="3209550"/>
            <a:ext cx="3072300" cy="397800"/>
          </a:xfrm>
          <a:prstGeom prst="roundRect">
            <a:avLst>
              <a:gd fmla="val 6897" name="adj"/>
            </a:avLst>
          </a:prstGeom>
          <a:solidFill>
            <a:srgbClr val="EEF5F9"/>
          </a:solidFill>
          <a:ln cap="flat" cmpd="sng" w="9525">
            <a:solidFill>
              <a:srgbClr val="E5D9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2482596" y="3353562"/>
            <a:ext cx="288000" cy="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6158"/>
              </a:buClr>
              <a:buSzPts val="600"/>
              <a:buFont typeface="Noto Sans"/>
              <a:buNone/>
            </a:pPr>
            <a:r>
              <a:rPr b="0" i="0" lang="ja" sz="600" u="none" cap="none" strike="noStrike">
                <a:solidFill>
                  <a:srgbClr val="6D6158"/>
                </a:solidFill>
                <a:latin typeface="Noto Sans"/>
                <a:ea typeface="Noto Sans"/>
                <a:cs typeface="Noto Sans"/>
                <a:sym typeface="Noto Sans"/>
              </a:rPr>
              <a:t>画像3</a:t>
            </a:r>
            <a:endParaRPr b="0" i="0" sz="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2372888" y="3223256"/>
            <a:ext cx="3058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52F"/>
              </a:buClr>
              <a:buSzPts val="800"/>
              <a:buFont typeface="Noto Sans"/>
              <a:buNone/>
            </a:pPr>
            <a:r>
              <a:rPr b="1" i="0" lang="ja" sz="1100" u="none" cap="none" strike="noStrike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選択肢C</a:t>
            </a:r>
            <a:endParaRPr b="1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2359143" y="3806194"/>
            <a:ext cx="1339200" cy="233100"/>
          </a:xfrm>
          <a:prstGeom prst="roundRect">
            <a:avLst>
              <a:gd fmla="val 11765" name="adj"/>
            </a:avLst>
          </a:prstGeom>
          <a:solidFill>
            <a:srgbClr val="F7F2ED"/>
          </a:solidFill>
          <a:ln cap="flat" cmpd="sng" w="9525">
            <a:solidFill>
              <a:srgbClr val="D8C5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2359163" y="3802819"/>
            <a:ext cx="1339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52F"/>
              </a:buClr>
              <a:buSzPts val="700"/>
              <a:buFont typeface="Noto Sans"/>
              <a:buNone/>
            </a:pPr>
            <a:r>
              <a:rPr b="0" i="0" lang="ja" sz="700" u="none" cap="none" strike="noStrike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全部好き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3926006" y="3826838"/>
            <a:ext cx="1440300" cy="233100"/>
          </a:xfrm>
          <a:prstGeom prst="roundRect">
            <a:avLst>
              <a:gd fmla="val 11765" name="adj"/>
            </a:avLst>
          </a:prstGeom>
          <a:solidFill>
            <a:srgbClr val="FCFBFA"/>
          </a:solidFill>
          <a:ln cap="flat" cmpd="sng" w="9525">
            <a:solidFill>
              <a:srgbClr val="D8C5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3926006" y="3826856"/>
            <a:ext cx="1399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52F"/>
              </a:buClr>
              <a:buSzPts val="700"/>
              <a:buFont typeface="Noto Sans"/>
              <a:buNone/>
            </a:pPr>
            <a:r>
              <a:rPr b="0" i="0" lang="ja" sz="700" u="none" cap="none" strike="noStrike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この中にはない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1789200" y="4348175"/>
            <a:ext cx="2819400" cy="397800"/>
          </a:xfrm>
          <a:prstGeom prst="roundRect">
            <a:avLst>
              <a:gd fmla="val 18750" name="adj"/>
            </a:avLst>
          </a:prstGeom>
          <a:solidFill>
            <a:srgbClr val="F8EEEC"/>
          </a:solidFill>
          <a:ln cap="flat" cmpd="sng" w="9525">
            <a:solidFill>
              <a:srgbClr val="F8E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1789200" y="4351075"/>
            <a:ext cx="28194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352F"/>
              </a:buClr>
              <a:buSzPts val="800"/>
              <a:buFont typeface="Noto Sans"/>
              <a:buNone/>
            </a:pPr>
            <a:r>
              <a:rPr b="0" i="0" lang="ja" sz="800" u="none" cap="none" strike="noStrike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「5問すべて答えると、あなた向けの追加質問へ進みます」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4845899" y="4361721"/>
            <a:ext cx="1339200" cy="397800"/>
          </a:xfrm>
          <a:prstGeom prst="roundRect">
            <a:avLst>
              <a:gd fmla="val 18750" name="adj"/>
            </a:avLst>
          </a:prstGeom>
          <a:solidFill>
            <a:srgbClr val="F8EEEC"/>
          </a:solidFill>
          <a:ln cap="flat" cmpd="sng" w="9525">
            <a:solidFill>
              <a:srgbClr val="F8E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4919699" y="4416613"/>
            <a:ext cx="11916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5C56"/>
              </a:buClr>
              <a:buSzPts val="700"/>
              <a:buFont typeface="Noto Sans"/>
              <a:buNone/>
            </a:pPr>
            <a:r>
              <a:rPr b="0" i="0" lang="ja" sz="700" u="none" cap="none" strike="noStrike">
                <a:solidFill>
                  <a:srgbClr val="8C5C56"/>
                </a:solidFill>
                <a:latin typeface="Noto Sans"/>
                <a:ea typeface="Noto Sans"/>
                <a:cs typeface="Noto Sans"/>
                <a:sym typeface="Noto Sans"/>
              </a:rPr>
              <a:t>次のステップへ進む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5882375" y="1227575"/>
            <a:ext cx="2457900" cy="235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rgbClr val="D8C5B1"/>
            </a:solidFill>
            <a:prstDash val="solid"/>
            <a:round/>
            <a:headEnd len="sm" w="sm" type="none"/>
            <a:tailEnd len="sm" w="sm" type="none"/>
          </a:ln>
          <a:effectLst>
            <a:outerShdw blurRad="13335" rotWithShape="0" algn="bl" dir="2700000" dist="4762">
              <a:srgbClr val="000000">
                <a:alpha val="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46" name="Google Shape;146;p17"/>
          <p:cNvSpPr txBox="1"/>
          <p:nvPr/>
        </p:nvSpPr>
        <p:spPr>
          <a:xfrm>
            <a:off x="5877244" y="1551525"/>
            <a:ext cx="24579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/>
              <a:t>店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/>
              <a:t>舗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/>
              <a:t>の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/>
              <a:t>雰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/>
              <a:t>囲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/>
              <a:t>気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/>
              <a:t>画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/>
              <a:t>像</a:t>
            </a:r>
            <a:endParaRPr sz="1200"/>
          </a:p>
        </p:txBody>
      </p:sp>
      <p:sp>
        <p:nvSpPr>
          <p:cNvPr id="147" name="Google Shape;147;p17"/>
          <p:cNvSpPr/>
          <p:nvPr/>
        </p:nvSpPr>
        <p:spPr>
          <a:xfrm>
            <a:off x="6362400" y="3696398"/>
            <a:ext cx="2059200" cy="1117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A6B89F"/>
          </a:solidFill>
          <a:ln cap="flat" cmpd="sng" w="9525">
            <a:solidFill>
              <a:srgbClr val="D8C5B1"/>
            </a:solidFill>
            <a:prstDash val="solid"/>
            <a:round/>
            <a:headEnd len="sm" w="sm" type="none"/>
            <a:tailEnd len="sm" w="sm" type="none"/>
          </a:ln>
          <a:effectLst>
            <a:outerShdw blurRad="13335" rotWithShape="0" algn="bl" dir="2700000" dist="4762">
              <a:srgbClr val="000000">
                <a:alpha val="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48" name="Google Shape;148;p17"/>
          <p:cNvSpPr txBox="1"/>
          <p:nvPr/>
        </p:nvSpPr>
        <p:spPr>
          <a:xfrm>
            <a:off x="6363013" y="3709300"/>
            <a:ext cx="20283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/>
              <a:t>豆知識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/>
              <a:t>＜トップノート＞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/>
              <a:t>香水やアロマをつけた直後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ja" sz="1100"/>
              <a:t>（〜約30分）に感じる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ja" sz="1100"/>
              <a:t>「第一印象」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/>
              <a:t>となる香りのことだよ♪</a:t>
            </a:r>
            <a:endParaRPr sz="1100"/>
          </a:p>
        </p:txBody>
      </p:sp>
      <p:sp>
        <p:nvSpPr>
          <p:cNvPr id="149" name="Google Shape;149;p17"/>
          <p:cNvSpPr/>
          <p:nvPr/>
        </p:nvSpPr>
        <p:spPr>
          <a:xfrm>
            <a:off x="438912" y="603504"/>
            <a:ext cx="80925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6158"/>
              </a:buClr>
              <a:buSzPts val="800"/>
              <a:buFont typeface="Noto Sans"/>
              <a:buNone/>
            </a:pPr>
            <a:r>
              <a:rPr b="0" i="0" lang="ja" sz="800" u="none" cap="none" strike="noStrike">
                <a:solidFill>
                  <a:srgbClr val="6D6158"/>
                </a:solidFill>
                <a:latin typeface="Noto Sans"/>
                <a:ea typeface="Noto Sans"/>
                <a:cs typeface="Noto Sans"/>
                <a:sym typeface="Noto Sans"/>
              </a:rPr>
              <a:t>左は進行ナビ、</a:t>
            </a:r>
            <a:r>
              <a:rPr lang="ja" sz="800">
                <a:solidFill>
                  <a:srgbClr val="6D6158"/>
                </a:solidFill>
                <a:latin typeface="Noto Sans"/>
                <a:ea typeface="Noto Sans"/>
                <a:cs typeface="Noto Sans"/>
                <a:sym typeface="Noto Sans"/>
              </a:rPr>
              <a:t>真ん中は</a:t>
            </a:r>
            <a:r>
              <a:rPr b="0" i="0" lang="ja" sz="800" u="none" cap="none" strike="noStrike">
                <a:solidFill>
                  <a:srgbClr val="6D6158"/>
                </a:solidFill>
                <a:latin typeface="Noto Sans"/>
                <a:ea typeface="Noto Sans"/>
                <a:cs typeface="Noto Sans"/>
                <a:sym typeface="Noto Sans"/>
              </a:rPr>
              <a:t>固定回答パネル。回答すると次の質問へ進み、前の質問にも戻れる。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507450" y="3929550"/>
            <a:ext cx="144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0A0A0A"/>
                </a:solidFill>
                <a:highlight>
                  <a:srgbClr val="FFFFFF"/>
                </a:highlight>
              </a:rPr>
              <a:t>ブラウザサイズは</a:t>
            </a:r>
            <a:endParaRPr b="1" sz="12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0A0A0A"/>
                </a:solidFill>
                <a:highlight>
                  <a:srgbClr val="FFFFFF"/>
                </a:highlight>
              </a:rPr>
              <a:t>「12：6.5」</a:t>
            </a:r>
            <a:endParaRPr b="1" sz="12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0A0A0A"/>
                </a:solidFill>
                <a:highlight>
                  <a:srgbClr val="FFFFFF"/>
                </a:highlight>
              </a:rPr>
              <a:t>の想定</a:t>
            </a:r>
            <a:endParaRPr b="1" sz="1200">
              <a:solidFill>
                <a:srgbClr val="0A0A0A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2ED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/>
          <p:nvPr/>
        </p:nvSpPr>
        <p:spPr>
          <a:xfrm>
            <a:off x="370350" y="740899"/>
            <a:ext cx="8229600" cy="4230000"/>
          </a:xfrm>
          <a:prstGeom prst="roundRect">
            <a:avLst>
              <a:gd fmla="val 868" name="adj"/>
            </a:avLst>
          </a:prstGeom>
          <a:solidFill>
            <a:srgbClr val="FFFDFC"/>
          </a:solidFill>
          <a:ln cap="flat" cmpd="sng" w="9525">
            <a:solidFill>
              <a:srgbClr val="D8C5B1"/>
            </a:solidFill>
            <a:prstDash val="solid"/>
            <a:round/>
            <a:headEnd len="sm" w="sm" type="none"/>
            <a:tailEnd len="sm" w="sm" type="none"/>
          </a:ln>
          <a:effectLst>
            <a:outerShdw blurRad="13335" rotWithShape="0" algn="bl" dir="2700000" dist="4762">
              <a:srgbClr val="000000">
                <a:alpha val="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425200" y="823000"/>
            <a:ext cx="8092500" cy="288000"/>
          </a:xfrm>
          <a:prstGeom prst="roundRect">
            <a:avLst>
              <a:gd fmla="val 22727" name="adj"/>
            </a:avLst>
          </a:prstGeom>
          <a:solidFill>
            <a:srgbClr val="F1ECE7"/>
          </a:solidFill>
          <a:ln cap="flat" cmpd="sng" w="9525">
            <a:solidFill>
              <a:srgbClr val="F1E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466344" y="1004697"/>
            <a:ext cx="41100" cy="41100"/>
          </a:xfrm>
          <a:prstGeom prst="ellipse">
            <a:avLst/>
          </a:prstGeom>
          <a:solidFill>
            <a:srgbClr val="D6A6A0"/>
          </a:solidFill>
          <a:ln cap="flat" cmpd="sng" w="9525">
            <a:solidFill>
              <a:srgbClr val="D6A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548640" y="1004697"/>
            <a:ext cx="41100" cy="41100"/>
          </a:xfrm>
          <a:prstGeom prst="ellipse">
            <a:avLst/>
          </a:prstGeom>
          <a:solidFill>
            <a:srgbClr val="D8C5B1"/>
          </a:solidFill>
          <a:ln cap="flat" cmpd="sng" w="9525">
            <a:solidFill>
              <a:srgbClr val="D8C5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630936" y="1004697"/>
            <a:ext cx="41100" cy="41100"/>
          </a:xfrm>
          <a:prstGeom prst="ellipse">
            <a:avLst/>
          </a:prstGeom>
          <a:solidFill>
            <a:srgbClr val="A6B89F"/>
          </a:solidFill>
          <a:ln cap="flat" cmpd="sng" w="9525">
            <a:solidFill>
              <a:srgbClr val="A6B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8538210" y="4814316"/>
            <a:ext cx="3429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D6158"/>
              </a:buClr>
              <a:buSzPts val="800"/>
              <a:buFont typeface="Noto Sans"/>
              <a:buNone/>
            </a:pPr>
            <a:r>
              <a:rPr b="0" i="0" lang="ja" sz="800" u="none" cap="none" strike="noStrike">
                <a:solidFill>
                  <a:srgbClr val="6D6158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438912" y="51695"/>
            <a:ext cx="7406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352F"/>
              </a:buClr>
              <a:buSzPts val="1800"/>
              <a:buFont typeface="Noto Sans"/>
              <a:buNone/>
            </a:pPr>
            <a:r>
              <a:rPr b="1" i="0" lang="ja" sz="1800" u="none" cap="none" strike="noStrike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STEP</a:t>
            </a:r>
            <a:r>
              <a:rPr b="1" lang="ja" sz="1800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r>
              <a:rPr b="1" i="0" lang="ja" sz="1800" u="none" cap="none" strike="noStrike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1" lang="ja" sz="1800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例</a:t>
            </a:r>
            <a:r>
              <a:rPr b="1" i="0" lang="ja" sz="1800" u="none" cap="none" strike="noStrike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（</a:t>
            </a:r>
            <a:r>
              <a:rPr b="1" lang="ja" sz="1800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分岐2</a:t>
            </a:r>
            <a:r>
              <a:rPr b="1" i="0" lang="ja" sz="1800" u="none" cap="none" strike="noStrike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問</a:t>
            </a:r>
            <a:r>
              <a:rPr b="1" lang="ja" sz="1800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+最終1問</a:t>
            </a:r>
            <a:r>
              <a:rPr b="1" i="0" lang="ja" sz="1800" u="none" cap="none" strike="noStrike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ページ）</a:t>
            </a:r>
            <a:endParaRPr b="0" i="0" sz="1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438912" y="603504"/>
            <a:ext cx="80925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6158"/>
              </a:buClr>
              <a:buSzPts val="800"/>
              <a:buFont typeface="Noto Sans"/>
              <a:buNone/>
            </a:pPr>
            <a:r>
              <a:rPr b="0" i="0" lang="ja" sz="800" u="none" cap="none" strike="noStrike">
                <a:solidFill>
                  <a:srgbClr val="6D6158"/>
                </a:solidFill>
                <a:latin typeface="Noto Sans"/>
                <a:ea typeface="Noto Sans"/>
                <a:cs typeface="Noto Sans"/>
                <a:sym typeface="Noto Sans"/>
              </a:rPr>
              <a:t>左は進行ナビ、</a:t>
            </a:r>
            <a:r>
              <a:rPr lang="ja" sz="800">
                <a:solidFill>
                  <a:srgbClr val="6D6158"/>
                </a:solidFill>
                <a:latin typeface="Noto Sans"/>
                <a:ea typeface="Noto Sans"/>
                <a:cs typeface="Noto Sans"/>
                <a:sym typeface="Noto Sans"/>
              </a:rPr>
              <a:t>真ん中</a:t>
            </a:r>
            <a:r>
              <a:rPr b="0" i="0" lang="ja" sz="800" u="none" cap="none" strike="noStrike">
                <a:solidFill>
                  <a:srgbClr val="6D6158"/>
                </a:solidFill>
                <a:latin typeface="Noto Sans"/>
                <a:ea typeface="Noto Sans"/>
                <a:cs typeface="Noto Sans"/>
                <a:sym typeface="Noto Sans"/>
              </a:rPr>
              <a:t>は固定回答パネル。回答すると次の質問へ進み、前の質問にも戻れる。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466344" y="1004697"/>
            <a:ext cx="41100" cy="41100"/>
          </a:xfrm>
          <a:prstGeom prst="ellipse">
            <a:avLst/>
          </a:prstGeom>
          <a:solidFill>
            <a:srgbClr val="D6A6A0"/>
          </a:solidFill>
          <a:ln cap="flat" cmpd="sng" w="9525">
            <a:solidFill>
              <a:srgbClr val="D6A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548640" y="1004697"/>
            <a:ext cx="41100" cy="41100"/>
          </a:xfrm>
          <a:prstGeom prst="ellipse">
            <a:avLst/>
          </a:prstGeom>
          <a:solidFill>
            <a:srgbClr val="D8C5B1"/>
          </a:solidFill>
          <a:ln cap="flat" cmpd="sng" w="9525">
            <a:solidFill>
              <a:srgbClr val="D8C5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630936" y="1004697"/>
            <a:ext cx="41100" cy="41100"/>
          </a:xfrm>
          <a:prstGeom prst="ellipse">
            <a:avLst/>
          </a:prstGeom>
          <a:solidFill>
            <a:srgbClr val="A6B89F"/>
          </a:solidFill>
          <a:ln cap="flat" cmpd="sng" w="9525">
            <a:solidFill>
              <a:srgbClr val="A6B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507492" y="1179576"/>
            <a:ext cx="905100" cy="219300"/>
          </a:xfrm>
          <a:prstGeom prst="roundRect">
            <a:avLst>
              <a:gd fmla="val 18750" name="adj"/>
            </a:avLst>
          </a:prstGeom>
          <a:solidFill>
            <a:srgbClr val="F8EEEC"/>
          </a:solidFill>
          <a:ln cap="flat" cmpd="sng" w="9525">
            <a:solidFill>
              <a:srgbClr val="F8E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548640" y="1227582"/>
            <a:ext cx="8232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52F"/>
              </a:buClr>
              <a:buSzPts val="700"/>
              <a:buFont typeface="Noto Sans"/>
              <a:buNone/>
            </a:pPr>
            <a:r>
              <a:rPr b="0" i="0" lang="ja" sz="700" u="none" cap="none" strike="noStrike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STEP1 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1508755" y="1179575"/>
            <a:ext cx="905100" cy="219300"/>
          </a:xfrm>
          <a:prstGeom prst="roundRect">
            <a:avLst>
              <a:gd fmla="val 18750" name="adj"/>
            </a:avLst>
          </a:prstGeom>
          <a:solidFill>
            <a:srgbClr val="EEF4EC"/>
          </a:solidFill>
          <a:ln cap="flat" cmpd="sng" w="9525">
            <a:solidFill>
              <a:srgbClr val="EEF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1549904" y="1227575"/>
            <a:ext cx="8232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52F"/>
              </a:buClr>
              <a:buSzPts val="700"/>
              <a:buFont typeface="Noto Sans"/>
              <a:buNone/>
            </a:pPr>
            <a:r>
              <a:rPr b="0" i="0" lang="ja" sz="700" u="none" cap="none" strike="noStrike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STEP2 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6516694" y="947230"/>
            <a:ext cx="411600" cy="150900"/>
          </a:xfrm>
          <a:prstGeom prst="roundRect">
            <a:avLst>
              <a:gd fmla="val 18750" name="adj"/>
            </a:avLst>
          </a:prstGeom>
          <a:solidFill>
            <a:srgbClr val="F5EFE9"/>
          </a:solidFill>
          <a:ln cap="flat" cmpd="sng" w="9525">
            <a:solidFill>
              <a:srgbClr val="F5EF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2180850" y="1481325"/>
            <a:ext cx="3399600" cy="2657100"/>
          </a:xfrm>
          <a:prstGeom prst="roundRect">
            <a:avLst>
              <a:gd fmla="val 1064" name="adj"/>
            </a:avLst>
          </a:prstGeom>
          <a:solidFill>
            <a:srgbClr val="FCFBFA"/>
          </a:solidFill>
          <a:ln cap="flat" cmpd="sng" w="9525">
            <a:solidFill>
              <a:srgbClr val="D8C5B1"/>
            </a:solidFill>
            <a:prstDash val="solid"/>
            <a:round/>
            <a:headEnd len="sm" w="sm" type="none"/>
            <a:tailEnd len="sm" w="sm" type="none"/>
          </a:ln>
          <a:effectLst>
            <a:outerShdw blurRad="13335" rotWithShape="0" algn="bl" dir="2700000" dist="4762">
              <a:srgbClr val="000000">
                <a:alpha val="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2345437" y="1604850"/>
            <a:ext cx="3235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52F"/>
              </a:buClr>
              <a:buSzPts val="1200"/>
              <a:buFont typeface="Noto Sans"/>
              <a:buNone/>
            </a:pPr>
            <a:r>
              <a:rPr b="1" lang="ja" sz="1200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Q7 甘さの出方はどれが近いですか？</a:t>
            </a:r>
            <a:endParaRPr b="1" sz="1200">
              <a:solidFill>
                <a:srgbClr val="3F352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74" name="Google Shape;174;p18" title="Gemini_Generated_Image_4gi85j4gi85j4gi8.png"/>
          <p:cNvPicPr preferRelativeResize="0"/>
          <p:nvPr/>
        </p:nvPicPr>
        <p:blipFill rotWithShape="1">
          <a:blip r:embed="rId3">
            <a:alphaModFix amt="60000"/>
          </a:blip>
          <a:srcRect b="38782" l="0" r="0" t="22762"/>
          <a:stretch/>
        </p:blipFill>
        <p:spPr>
          <a:xfrm>
            <a:off x="2345438" y="2096828"/>
            <a:ext cx="3086100" cy="42864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/>
          <p:nvPr/>
        </p:nvSpPr>
        <p:spPr>
          <a:xfrm>
            <a:off x="2372963" y="2091656"/>
            <a:ext cx="30588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52F"/>
              </a:buClr>
              <a:buSzPts val="800"/>
              <a:buFont typeface="Noto Sans"/>
              <a:buNone/>
            </a:pPr>
            <a:r>
              <a:rPr b="1" i="0" lang="ja" sz="1100" u="none" cap="none" strike="noStrike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選択肢A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2359144" y="2674613"/>
            <a:ext cx="3086100" cy="397800"/>
          </a:xfrm>
          <a:prstGeom prst="roundRect">
            <a:avLst>
              <a:gd fmla="val 6897" name="adj"/>
            </a:avLst>
          </a:prstGeom>
          <a:solidFill>
            <a:srgbClr val="EEF4EC"/>
          </a:solidFill>
          <a:ln cap="flat" cmpd="sng" w="9525">
            <a:solidFill>
              <a:srgbClr val="E5D9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2482596" y="2818638"/>
            <a:ext cx="288000" cy="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6158"/>
              </a:buClr>
              <a:buSzPts val="600"/>
              <a:buFont typeface="Noto Sans"/>
              <a:buNone/>
            </a:pPr>
            <a:r>
              <a:rPr b="0" i="0" lang="ja" sz="600" u="none" cap="none" strike="noStrike">
                <a:solidFill>
                  <a:srgbClr val="6D6158"/>
                </a:solidFill>
                <a:latin typeface="Noto Sans"/>
                <a:ea typeface="Noto Sans"/>
                <a:cs typeface="Noto Sans"/>
                <a:sym typeface="Noto Sans"/>
              </a:rPr>
              <a:t>画像2</a:t>
            </a:r>
            <a:endParaRPr b="0" i="0" sz="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2372963" y="2688319"/>
            <a:ext cx="3058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52F"/>
              </a:buClr>
              <a:buSzPts val="800"/>
              <a:buFont typeface="Noto Sans"/>
              <a:buNone/>
            </a:pPr>
            <a:r>
              <a:rPr b="1" i="0" lang="ja" sz="1100" u="none" cap="none" strike="noStrike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選択肢B</a:t>
            </a:r>
            <a:endParaRPr b="1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2359144" y="3209550"/>
            <a:ext cx="3072300" cy="397800"/>
          </a:xfrm>
          <a:prstGeom prst="roundRect">
            <a:avLst>
              <a:gd fmla="val 6897" name="adj"/>
            </a:avLst>
          </a:prstGeom>
          <a:solidFill>
            <a:srgbClr val="EEF5F9"/>
          </a:solidFill>
          <a:ln cap="flat" cmpd="sng" w="9525">
            <a:solidFill>
              <a:srgbClr val="E5D9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2482596" y="3353562"/>
            <a:ext cx="288000" cy="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6158"/>
              </a:buClr>
              <a:buSzPts val="600"/>
              <a:buFont typeface="Noto Sans"/>
              <a:buNone/>
            </a:pPr>
            <a:r>
              <a:rPr b="0" i="0" lang="ja" sz="600" u="none" cap="none" strike="noStrike">
                <a:solidFill>
                  <a:srgbClr val="6D6158"/>
                </a:solidFill>
                <a:latin typeface="Noto Sans"/>
                <a:ea typeface="Noto Sans"/>
                <a:cs typeface="Noto Sans"/>
                <a:sym typeface="Noto Sans"/>
              </a:rPr>
              <a:t>画像3</a:t>
            </a:r>
            <a:endParaRPr b="0" i="0" sz="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2372888" y="3223256"/>
            <a:ext cx="3058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52F"/>
              </a:buClr>
              <a:buSzPts val="800"/>
              <a:buFont typeface="Noto Sans"/>
              <a:buNone/>
            </a:pPr>
            <a:r>
              <a:rPr b="1" i="0" lang="ja" sz="1100" u="none" cap="none" strike="noStrike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選択肢C</a:t>
            </a:r>
            <a:endParaRPr b="1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2359143" y="3806194"/>
            <a:ext cx="1339200" cy="233100"/>
          </a:xfrm>
          <a:prstGeom prst="roundRect">
            <a:avLst>
              <a:gd fmla="val 11765" name="adj"/>
            </a:avLst>
          </a:prstGeom>
          <a:solidFill>
            <a:srgbClr val="F7F2ED"/>
          </a:solidFill>
          <a:ln cap="flat" cmpd="sng" w="9525">
            <a:solidFill>
              <a:srgbClr val="D8C5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2359163" y="3802819"/>
            <a:ext cx="1339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52F"/>
              </a:buClr>
              <a:buSzPts val="700"/>
              <a:buFont typeface="Noto Sans"/>
              <a:buNone/>
            </a:pPr>
            <a:r>
              <a:rPr b="0" i="0" lang="ja" sz="700" u="none" cap="none" strike="noStrike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全部好き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3926006" y="3826838"/>
            <a:ext cx="1440300" cy="233100"/>
          </a:xfrm>
          <a:prstGeom prst="roundRect">
            <a:avLst>
              <a:gd fmla="val 11765" name="adj"/>
            </a:avLst>
          </a:prstGeom>
          <a:solidFill>
            <a:srgbClr val="FCFBFA"/>
          </a:solidFill>
          <a:ln cap="flat" cmpd="sng" w="9525">
            <a:solidFill>
              <a:srgbClr val="D8C5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3926006" y="3826856"/>
            <a:ext cx="1399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52F"/>
              </a:buClr>
              <a:buSzPts val="700"/>
              <a:buFont typeface="Noto Sans"/>
              <a:buNone/>
            </a:pPr>
            <a:r>
              <a:rPr b="0" i="0" lang="ja" sz="700" u="none" cap="none" strike="noStrike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この中にはない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1789200" y="4348175"/>
            <a:ext cx="2819400" cy="397800"/>
          </a:xfrm>
          <a:prstGeom prst="roundRect">
            <a:avLst>
              <a:gd fmla="val 18750" name="adj"/>
            </a:avLst>
          </a:prstGeom>
          <a:solidFill>
            <a:srgbClr val="F8EEEC"/>
          </a:solidFill>
          <a:ln cap="flat" cmpd="sng" w="9525">
            <a:solidFill>
              <a:srgbClr val="F8E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1878975" y="4348175"/>
            <a:ext cx="26931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52F"/>
              </a:buClr>
              <a:buSzPts val="800"/>
              <a:buFont typeface="Noto Sans"/>
              <a:buNone/>
            </a:pPr>
            <a:r>
              <a:rPr lang="ja" sz="800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解答をもとにグラフを表示する</a:t>
            </a:r>
            <a:endParaRPr sz="800">
              <a:solidFill>
                <a:srgbClr val="3F352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4845899" y="4361721"/>
            <a:ext cx="1339200" cy="397800"/>
          </a:xfrm>
          <a:prstGeom prst="roundRect">
            <a:avLst>
              <a:gd fmla="val 18750" name="adj"/>
            </a:avLst>
          </a:prstGeom>
          <a:solidFill>
            <a:srgbClr val="F8EEEC"/>
          </a:solidFill>
          <a:ln cap="flat" cmpd="sng" w="9525">
            <a:solidFill>
              <a:srgbClr val="F8E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4919699" y="4416613"/>
            <a:ext cx="11916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5C56"/>
              </a:buClr>
              <a:buSzPts val="700"/>
              <a:buFont typeface="Noto Sans"/>
              <a:buNone/>
            </a:pPr>
            <a:r>
              <a:rPr b="0" i="0" lang="ja" sz="700" u="none" cap="none" strike="noStrike">
                <a:solidFill>
                  <a:srgbClr val="8C5C56"/>
                </a:solidFill>
                <a:latin typeface="Noto Sans"/>
                <a:ea typeface="Noto Sans"/>
                <a:cs typeface="Noto Sans"/>
                <a:sym typeface="Noto Sans"/>
              </a:rPr>
              <a:t>次のステップへ進む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5882375" y="1227575"/>
            <a:ext cx="2457900" cy="235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rgbClr val="D8C5B1"/>
            </a:solidFill>
            <a:prstDash val="solid"/>
            <a:round/>
            <a:headEnd len="sm" w="sm" type="none"/>
            <a:tailEnd len="sm" w="sm" type="none"/>
          </a:ln>
          <a:effectLst>
            <a:outerShdw blurRad="13335" rotWithShape="0" algn="bl" dir="2700000" dist="4762">
              <a:srgbClr val="000000">
                <a:alpha val="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91" name="Google Shape;191;p18"/>
          <p:cNvSpPr txBox="1"/>
          <p:nvPr/>
        </p:nvSpPr>
        <p:spPr>
          <a:xfrm>
            <a:off x="5877244" y="1551525"/>
            <a:ext cx="24579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/>
              <a:t>店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/>
              <a:t>舗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/>
              <a:t>の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/>
              <a:t>雰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/>
              <a:t>囲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/>
              <a:t>気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/>
              <a:t>画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/>
              <a:t>像</a:t>
            </a:r>
            <a:endParaRPr sz="1200"/>
          </a:p>
        </p:txBody>
      </p:sp>
      <p:sp>
        <p:nvSpPr>
          <p:cNvPr id="192" name="Google Shape;192;p18"/>
          <p:cNvSpPr/>
          <p:nvPr/>
        </p:nvSpPr>
        <p:spPr>
          <a:xfrm>
            <a:off x="6362400" y="3696450"/>
            <a:ext cx="2059200" cy="1117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A6B89F"/>
          </a:solidFill>
          <a:ln cap="flat" cmpd="sng" w="9525">
            <a:solidFill>
              <a:srgbClr val="D8C5B1"/>
            </a:solidFill>
            <a:prstDash val="solid"/>
            <a:round/>
            <a:headEnd len="sm" w="sm" type="none"/>
            <a:tailEnd len="sm" w="sm" type="none"/>
          </a:ln>
          <a:effectLst>
            <a:outerShdw blurRad="13335" rotWithShape="0" algn="bl" dir="2700000" dist="4762">
              <a:srgbClr val="000000">
                <a:alpha val="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93" name="Google Shape;193;p18"/>
          <p:cNvSpPr txBox="1"/>
          <p:nvPr/>
        </p:nvSpPr>
        <p:spPr>
          <a:xfrm>
            <a:off x="6362400" y="3696450"/>
            <a:ext cx="2059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/>
              <a:t>豆知識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/>
              <a:t>＜ミドルノート＞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/>
              <a:t>香水をつけてから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/>
              <a:t>約30分～2時間後に香る、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/>
              <a:t>香りの中心となる部分だよ☆</a:t>
            </a:r>
            <a:endParaRPr sz="1100"/>
          </a:p>
        </p:txBody>
      </p:sp>
      <p:sp>
        <p:nvSpPr>
          <p:cNvPr id="194" name="Google Shape;194;p18"/>
          <p:cNvSpPr/>
          <p:nvPr/>
        </p:nvSpPr>
        <p:spPr>
          <a:xfrm>
            <a:off x="507492" y="1508760"/>
            <a:ext cx="1440300" cy="356700"/>
          </a:xfrm>
          <a:prstGeom prst="roundRect">
            <a:avLst>
              <a:gd fmla="val 9615" name="adj"/>
            </a:avLst>
          </a:prstGeom>
          <a:solidFill>
            <a:srgbClr val="EEF4EC"/>
          </a:solidFill>
          <a:ln cap="flat" cmpd="sng" w="9525">
            <a:solidFill>
              <a:srgbClr val="A6B89F"/>
            </a:solidFill>
            <a:prstDash val="solid"/>
            <a:round/>
            <a:headEnd len="sm" w="sm" type="none"/>
            <a:tailEnd len="sm" w="sm" type="none"/>
          </a:ln>
          <a:effectLst>
            <a:outerShdw blurRad="13335" rotWithShape="0" algn="bl" dir="2700000" dist="4762">
              <a:srgbClr val="000000">
                <a:alpha val="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576072" y="1604772"/>
            <a:ext cx="13029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52F"/>
              </a:buClr>
              <a:buSzPts val="800"/>
              <a:buFont typeface="Noto Sans"/>
              <a:buNone/>
            </a:pPr>
            <a:r>
              <a:rPr b="0" i="0" lang="ja" sz="800" u="none" cap="none" strike="noStrike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Q6 身につけた時の印象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507492" y="1975104"/>
            <a:ext cx="1440300" cy="356700"/>
          </a:xfrm>
          <a:prstGeom prst="roundRect">
            <a:avLst>
              <a:gd fmla="val 9615" name="adj"/>
            </a:avLst>
          </a:prstGeom>
          <a:solidFill>
            <a:srgbClr val="FFF7F6"/>
          </a:solidFill>
          <a:ln cap="flat" cmpd="sng" w="9525">
            <a:solidFill>
              <a:srgbClr val="C98378"/>
            </a:solidFill>
            <a:prstDash val="solid"/>
            <a:round/>
            <a:headEnd len="sm" w="sm" type="none"/>
            <a:tailEnd len="sm" w="sm" type="none"/>
          </a:ln>
          <a:effectLst>
            <a:outerShdw blurRad="13335" rotWithShape="0" algn="bl" dir="2700000" dist="4762">
              <a:srgbClr val="000000">
                <a:alpha val="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8"/>
          <p:cNvSpPr/>
          <p:nvPr/>
        </p:nvSpPr>
        <p:spPr>
          <a:xfrm>
            <a:off x="576072" y="2071116"/>
            <a:ext cx="13029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52F"/>
              </a:buClr>
              <a:buSzPts val="800"/>
              <a:buFont typeface="Noto Sans"/>
              <a:buNone/>
            </a:pPr>
            <a:r>
              <a:rPr b="0" i="0" lang="ja" sz="800" u="none" cap="none" strike="noStrike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Q7 甘さの出方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507492" y="2441448"/>
            <a:ext cx="1440300" cy="356700"/>
          </a:xfrm>
          <a:prstGeom prst="roundRect">
            <a:avLst>
              <a:gd fmla="val 9615" name="adj"/>
            </a:avLst>
          </a:prstGeom>
          <a:solidFill>
            <a:srgbClr val="EEF5F9"/>
          </a:solidFill>
          <a:ln cap="flat" cmpd="sng" w="9525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  <a:effectLst>
            <a:outerShdw blurRad="13335" rotWithShape="0" algn="bl" dir="2700000" dist="4762">
              <a:srgbClr val="000000">
                <a:alpha val="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>
            <a:off x="576072" y="2537460"/>
            <a:ext cx="13029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52F"/>
              </a:buClr>
              <a:buSzPts val="800"/>
              <a:buFont typeface="Noto Sans"/>
              <a:buNone/>
            </a:pPr>
            <a:r>
              <a:rPr b="0" i="0" lang="ja" sz="800" u="none" cap="none" strike="noStrike">
                <a:solidFill>
                  <a:srgbClr val="3F352F"/>
                </a:solidFill>
                <a:latin typeface="Noto Sans"/>
                <a:ea typeface="Noto Sans"/>
                <a:cs typeface="Noto Sans"/>
                <a:sym typeface="Noto Sans"/>
              </a:rPr>
              <a:t>Q8 今日の仕上がり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2345425" y="1851650"/>
            <a:ext cx="3086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6158"/>
              </a:buClr>
              <a:buSzPts val="700"/>
              <a:buFont typeface="Noto Sans"/>
              <a:buNone/>
            </a:pPr>
            <a:r>
              <a:rPr b="0" i="0" lang="ja" sz="700" u="none" cap="none" strike="noStrike">
                <a:solidFill>
                  <a:srgbClr val="6D6158"/>
                </a:solidFill>
                <a:latin typeface="Noto Sans"/>
                <a:ea typeface="Noto Sans"/>
                <a:cs typeface="Noto Sans"/>
                <a:sym typeface="Noto Sans"/>
              </a:rPr>
              <a:t>固定パネル内で選択。3つの画像つき選択肢 + 中立ボタン2つで構成。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1" name="Google Shape;201;p18"/>
          <p:cNvSpPr txBox="1"/>
          <p:nvPr/>
        </p:nvSpPr>
        <p:spPr>
          <a:xfrm>
            <a:off x="507450" y="3929550"/>
            <a:ext cx="144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0A0A0A"/>
                </a:solidFill>
                <a:highlight>
                  <a:srgbClr val="FFFFFF"/>
                </a:highlight>
              </a:rPr>
              <a:t>ブラウザサイズは</a:t>
            </a:r>
            <a:endParaRPr b="1" sz="12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0A0A0A"/>
                </a:solidFill>
                <a:highlight>
                  <a:srgbClr val="FFFFFF"/>
                </a:highlight>
              </a:rPr>
              <a:t>「12：6.5」</a:t>
            </a:r>
            <a:endParaRPr b="1" sz="12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0A0A0A"/>
                </a:solidFill>
                <a:highlight>
                  <a:srgbClr val="FFFFFF"/>
                </a:highlight>
              </a:rPr>
              <a:t>の想定</a:t>
            </a:r>
            <a:endParaRPr b="1" sz="1200">
              <a:solidFill>
                <a:srgbClr val="0A0A0A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