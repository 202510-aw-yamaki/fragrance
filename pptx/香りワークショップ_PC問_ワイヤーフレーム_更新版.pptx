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香りワークショップ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PC版アンケートUIワイヤーフレームと画像生成プロンプト（更新版）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1536×1024生成 → 中央4.5:1トリミング前提 / 固定5問・分岐4ルート・最終1問・右下豆知識付き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063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306324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70432"/>
            <a:ext cx="29169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この資料で一目で分かること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453896"/>
            <a:ext cx="2898648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・左：質問ナビ</a:t>
            </a:r>
            <a:endParaRPr lang="en-US" sz="1017" dirty="0"/>
          </a:p>
          <a:p>
            <a:pPr algn="l" indent="0" marL="0">
              <a:buNone/>
            </a:pPr>
            <a:r>
              <a:rPr lang="en-US" sz="10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・右：固定回答パネル</a:t>
            </a:r>
            <a:endParaRPr lang="en-US" sz="1017" dirty="0"/>
          </a:p>
          <a:p>
            <a:pPr algn="l" indent="0" marL="0">
              <a:buNone/>
            </a:pPr>
            <a:r>
              <a:rPr lang="en-US" sz="10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・選択肢画像は3択のみ生成</a:t>
            </a:r>
            <a:endParaRPr lang="en-US" sz="1017" dirty="0"/>
          </a:p>
          <a:p>
            <a:pPr algn="l" indent="0" marL="0">
              <a:buNone/>
            </a:pPr>
            <a:r>
              <a:rPr lang="en-US" sz="10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・人物単体は避け、花・店内・光・素材感を優先</a:t>
            </a:r>
            <a:endParaRPr lang="en-US" sz="1017" dirty="0"/>
          </a:p>
          <a:p>
            <a:pPr algn="l" indent="0" marL="0">
              <a:buNone/>
            </a:pPr>
            <a:r>
              <a:rPr lang="en-US" sz="10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・各枠に、その枠専用の情報を直接配置</a:t>
            </a:r>
            <a:endParaRPr lang="en-US" sz="1017" dirty="0"/>
          </a:p>
        </p:txBody>
      </p:sp>
      <p:sp>
        <p:nvSpPr>
          <p:cNvPr id="8" name="Shape 6"/>
          <p:cNvSpPr/>
          <p:nvPr/>
        </p:nvSpPr>
        <p:spPr>
          <a:xfrm>
            <a:off x="3703320" y="1143000"/>
            <a:ext cx="802843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1143000"/>
            <a:ext cx="802843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170432"/>
            <a:ext cx="7882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見た瞬間に誤解しない構成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931920" y="1554480"/>
            <a:ext cx="1389888" cy="278892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1664208"/>
            <a:ext cx="11155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左ナビ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096512" y="1993392"/>
            <a:ext cx="10607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4096512" y="2423160"/>
            <a:ext cx="10607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468880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4096512" y="2852928"/>
            <a:ext cx="1060704" cy="265176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944" y="2898648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4096512" y="3282696"/>
            <a:ext cx="10607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3328416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4096512" y="3712464"/>
            <a:ext cx="10607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23944" y="3758184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5532120" y="1554480"/>
            <a:ext cx="4041648" cy="278892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1664208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715000" y="1938528"/>
            <a:ext cx="367588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1938528"/>
            <a:ext cx="3675888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1956816"/>
            <a:ext cx="3547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画像1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788152" y="2194560"/>
            <a:ext cx="352958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A枠に対応するPromptをこの位置へ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715000" y="2551176"/>
            <a:ext cx="367588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2551176"/>
            <a:ext cx="3675888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2569464"/>
            <a:ext cx="3547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画像2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788152" y="2807208"/>
            <a:ext cx="352958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B枠に対応するPromptをこの位置へ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5715000" y="3163824"/>
            <a:ext cx="367588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163824"/>
            <a:ext cx="3675888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3182112"/>
            <a:ext cx="3547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画像3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788152" y="3419856"/>
            <a:ext cx="352958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C枠に対応するPromptをこの位置へ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5715000" y="3813048"/>
            <a:ext cx="1664208" cy="256032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3849624"/>
            <a:ext cx="16093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全部好き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7726680" y="3813048"/>
            <a:ext cx="1664208" cy="256032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3849624"/>
            <a:ext cx="16093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この中にはない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9802368" y="1554480"/>
            <a:ext cx="1554480" cy="196596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30384" y="2029968"/>
            <a:ext cx="1298448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</a:t>
            </a:r>
            <a:endParaRPr lang="en-US" sz="997" dirty="0"/>
          </a:p>
          <a:p>
            <a:pPr algn="ctr" indent="0" marL="0">
              <a:buNone/>
            </a:pPr>
            <a:r>
              <a:rPr lang="en-US" sz="997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97" dirty="0"/>
          </a:p>
        </p:txBody>
      </p:sp>
      <p:sp>
        <p:nvSpPr>
          <p:cNvPr id="43" name="Shape 41"/>
          <p:cNvSpPr/>
          <p:nvPr/>
        </p:nvSpPr>
        <p:spPr>
          <a:xfrm>
            <a:off x="9802368" y="3657600"/>
            <a:ext cx="1554480" cy="68580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30384" y="3822192"/>
            <a:ext cx="1298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完成文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438912" y="5138928"/>
            <a:ext cx="8595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資料を見る人が最初の設計者でなくても、位置と内容が1対1で結びついて見えることを最優先に再構成。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今回の更新前提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香りワークショップ_PC問_ワイヤーフレームの1ページ目に準ずる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3375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3375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78992"/>
            <a:ext cx="31912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固定5問 → 分岐4ルート → Q8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362456"/>
            <a:ext cx="31729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9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固定5問は全員共通。Q6・Q7はA/B/C/Dの4ルートへ分岐し、Q8で今日の仕上がりを確認する。</a:t>
            </a:r>
            <a:endParaRPr lang="en-US" sz="939" dirty="0"/>
          </a:p>
        </p:txBody>
      </p:sp>
      <p:sp>
        <p:nvSpPr>
          <p:cNvPr id="8" name="Shape 6"/>
          <p:cNvSpPr/>
          <p:nvPr/>
        </p:nvSpPr>
        <p:spPr>
          <a:xfrm>
            <a:off x="411480" y="2139696"/>
            <a:ext cx="544068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139696"/>
            <a:ext cx="54406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167128"/>
            <a:ext cx="5294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共通画像方針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93776" y="2450592"/>
            <a:ext cx="5276088" cy="1938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画像はすべて1536×1024で生成し、実装時に中央を4.5:1でトリミング表示する。重要要素は中央横帯に収め、花・店内・光・素材感・テーブル演出を優先。人物は原則入れず、必要でも指先程度に留める。</a:t>
            </a:r>
            <a:endParaRPr lang="en-US" sz="997" dirty="0"/>
          </a:p>
        </p:txBody>
      </p:sp>
      <p:sp>
        <p:nvSpPr>
          <p:cNvPr id="12" name="Shape 10"/>
          <p:cNvSpPr/>
          <p:nvPr/>
        </p:nvSpPr>
        <p:spPr>
          <a:xfrm>
            <a:off x="6053328" y="1051560"/>
            <a:ext cx="5632704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5632704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78992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共通接頭文（選択肢画像）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135624" y="1362456"/>
            <a:ext cx="5468112" cy="1773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ワークショップのアンケートUIで使う横長選択肢バナー画像。1536×1024で生成。実装時に中央を4.5:1で機械的にトリミングする前提で、重要要素は画像中央の横帯に集める。日本の上質な香り工房・ライフスタイル広告写真のトーン。自然光、やわらかな陰影、上品で静かな空気感。人物単体の立ち姿は入れない。優先するのは花、店内、光、素材感、テーブル演出。人物を入れる場合も指先が軽く映る程度。画像内に文字、ロゴ、看板、ラベル文字なし。</a:t>
            </a:r>
            <a:endParaRPr lang="en-US" sz="857" dirty="0"/>
          </a:p>
        </p:txBody>
      </p:sp>
      <p:sp>
        <p:nvSpPr>
          <p:cNvPr id="16" name="Shape 14"/>
          <p:cNvSpPr/>
          <p:nvPr/>
        </p:nvSpPr>
        <p:spPr>
          <a:xfrm>
            <a:off x="6053328" y="3346704"/>
            <a:ext cx="563270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3346704"/>
            <a:ext cx="5632704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374136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共通接頭文（店舗画像）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135624" y="3657600"/>
            <a:ext cx="5468112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ワークショップのPCアンケート画面右サイドに置く店舗イメージ画像。1536×1024で生成。実装時に中央を4.5:1で機械的にトリミングする前提で、重要要素は中央横帯に配置。人物は入れない。日本の上質な香り工房の内観、作業台、棚、蒸留器、減圧蒸留装置、無地ボトル、花材、ガラス器具、木と真鍮と白壁の清潔感ある空間。自然光、上品、静か、整理された構図。画像内に文字、ロゴ、看板、ラベル文字なし。</a:t>
            </a:r>
            <a:endParaRPr lang="en-US" sz="857" dirty="0"/>
          </a:p>
        </p:txBody>
      </p:sp>
      <p:sp>
        <p:nvSpPr>
          <p:cNvPr id="20" name="Text 18"/>
          <p:cNvSpPr/>
          <p:nvPr/>
        </p:nvSpPr>
        <p:spPr>
          <a:xfrm>
            <a:off x="438912" y="5577840"/>
            <a:ext cx="8595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以降の各スライドでは、各枠の中に“その枠専用の差分Prompt”を直接配置。左右を取り違えない構成にする。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ワイヤーフレーム（固定5問ページ）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左：質問ナビ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どんな気分になりたいですか？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画像1｜A｜やさしく癒やされたい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この枠に入る画像用Promptを直接記載。A/B/Cで位置を取り違えない。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画像2｜B｜すっきり切り替えたい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この枠に入る画像用Promptを直接記載。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画像3｜C｜自分らしさを出したい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この枠に入る画像用Promptを直接記載。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5問すべて答えると、あなた向けの追加質問へ進みます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豆知識＜トップノート＞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香水やアロマをつけた直後（〜約30分）に感じる「第一印象」となる香りのこと。</a:t>
            </a:r>
            <a:endParaRPr lang="en-US" sz="81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固定5問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今いちばん惹かれる香りは？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A｜花がふわっと香る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淡い花びら、白い花器、やわらかな朝の光、ピンクベージュの布、花が空気に溶けるようなやさしい華やかさ。甘すぎず、軽く上品。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B｜みずみずしく爽やか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透明なガラス、白い窓辺、みずみずしい葉、水滴、朝の空気のような明るい清潔感。白と淡い水色を基調にした軽やかな空気感。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C｜木や森の落ち着き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木の天板、深いグリーンの葉、自然素材、柔らかな影。森を思わせる静けさと落ち着き。ブラウンと深緑を基調にした穏やかな室内演出。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直感でひとつ選んでください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豆知識＜香りの第一印象＞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最初に好きだと感じる香りは、その後の全体印象にも強く影響しやすい。</a:t>
            </a:r>
            <a:endParaRPr lang="en-US" sz="81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固定5問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好きな色は何ですか？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A｜やさしいピンク・ベージュ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淡いピンクの花、ベージュの布、やわらかな自然光。温かく上品で、やさしさと親しみを感じる静物演出。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B｜白・水色・透明感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白いガラス器、淡いブルーの反射、窓辺の光、透明な水のニュアンス。軽やかで清潔な印象の静物写真。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C｜ブラウン・深いグリーン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木材、深いグリーンの葉、自然素材の質感、落ち着いた光。安心感と静けさを感じる日本の室内演出。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色の印象にいちばん近いものを選んでください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豆知識＜色と香り＞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色の好みは、香りの軽さ・温度感・落ち着きの好みとつながることが多い。</a:t>
            </a:r>
            <a:endParaRPr lang="en-US" sz="81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固定5問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どんな気分になりたいですか？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A｜やさしく癒やされたい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白い花、やわらかい布、淡いベージュ、落ち着いた光、静かなテーブル演出。安心感と包まれるようなやさしさを感じる。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B｜すっきり切り替えたい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白い窓辺、透明な器、みずみずしい葉、軽い陰影。空気が入れ替わるような清潔感と切り替わりを感じる構図。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C｜自分らしさを出したい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少し深い色の花材、整えられたテーブル、静かな存在感のある素材。派手ではないが芯のある個性を感じる演出。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香りをまとったあとの気分で選んでください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豆知識＜香りと気分＞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香りは“香りそのものの好み”だけでなく、“なりたい気分”から選ぶと決めやすくなる。</a:t>
            </a:r>
            <a:endParaRPr lang="en-US" sz="81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固定5問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どんな時に使いたいですか？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A｜休日に気分を上げたい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明るい昼の室内、軽い花材、窓から入る光、整ったテーブル。少し気分が上がる軽快さと余白。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B｜仕事や外出で心地よく整えたい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白とグレージュの整った室内、きちんと並んだ無地ボトル、清潔な窓辺。落ち着きと清潔感、毎日使える整い。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C｜夜や特別な時間を深く楽しみたい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少し深いブラウン、影のある花材、静かなテーブル、抑えた光。特別感と余韻を感じる落ち着いた演出。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香りを使う場面に近いものを選んでください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豆知識＜香りのシーン設計＞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同じ香りでも、使う時間帯や場面によって“ちょうどよい強さ”は変わる。</a:t>
            </a:r>
            <a:endParaRPr lang="en-US" sz="81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 固定5問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惹かれる香り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好きな色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なりたい気分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使いたい時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好きな音楽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好きな音楽は何ですか？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A｜明るいポップ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明るい窓辺、軽い花材、白と淡いブルー、軽快な空気感。テンポがあり、軽やかに抜ける印象。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B｜心にしみるストリングス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やわらかな布、淡い花、夕方手前のような温度のある光。繊細で感情に寄り添うやさしい印象。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C｜自然に耳に残るクラシック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木の質感、整った構図、深すぎない静かな影、長く余韻が続くような落ち着き。上品で洗練された空気感。</a:t>
            </a:r>
            <a:endParaRPr lang="en-US" sz="817" dirty="0"/>
          </a:p>
        </p:txBody>
      </p:sp>
      <p:sp>
        <p:nvSpPr>
          <p:cNvPr id="32" name="Shape 30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音の雰囲気にいちばん近いものを選んでください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7" dirty="0"/>
          </a:p>
        </p:txBody>
      </p:sp>
      <p:sp>
        <p:nvSpPr>
          <p:cNvPr id="43" name="Shape 41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豆知識＜香りとリズム＞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音楽の好みは、香りの“立ち上がりの軽さ”や“余韻の長さ”の好みに重なることがある。</a:t>
            </a:r>
            <a:endParaRPr lang="en-US" sz="81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STEP2 ワイヤーフレーム（分岐 + 最終1問）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STEP2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ルート別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ルート別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今日の仕上がり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Q7A 甘さの出方はどれが近いですか？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7168" y="1627632"/>
            <a:ext cx="6254496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673352"/>
            <a:ext cx="6071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ここまでの回答をもとに、あと少しだけお聞きします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487168" y="195681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195681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197510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画像1｜A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560320" y="221284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この枠にQ7A / Q7B / Q7C / Q7Dの対応Promptを直接記載。</a:t>
            </a:r>
            <a:endParaRPr lang="en-US" sz="817" dirty="0"/>
          </a:p>
        </p:txBody>
      </p:sp>
      <p:sp>
        <p:nvSpPr>
          <p:cNvPr id="22" name="Shape 20"/>
          <p:cNvSpPr/>
          <p:nvPr/>
        </p:nvSpPr>
        <p:spPr>
          <a:xfrm>
            <a:off x="2487168" y="303580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303580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305409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画像2｜B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560320" y="329184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右側画像枠に対応する内容だけを書く。</a:t>
            </a:r>
            <a:endParaRPr lang="en-US" sz="817" dirty="0"/>
          </a:p>
        </p:txBody>
      </p:sp>
      <p:sp>
        <p:nvSpPr>
          <p:cNvPr id="26" name="Shape 24"/>
          <p:cNvSpPr/>
          <p:nvPr/>
        </p:nvSpPr>
        <p:spPr>
          <a:xfrm>
            <a:off x="2487168" y="411480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411480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51176" y="413308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画像3｜C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2560320" y="437083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位置と内容が1対1で見えるように配置。</a:t>
            </a:r>
            <a:endParaRPr lang="en-US" sz="817" dirty="0"/>
          </a:p>
        </p:txBody>
      </p:sp>
      <p:sp>
        <p:nvSpPr>
          <p:cNvPr id="30" name="Shape 28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ここまでの回答をもとに、あと少しだけお聞きします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807" dirty="0"/>
          </a:p>
        </p:txBody>
      </p:sp>
      <p:sp>
        <p:nvSpPr>
          <p:cNvPr id="41" name="Shape 39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豆知識＜ミドルノート＞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香水をつけてから約30分〜2時間後に香る、香りの中心となる部分。</a:t>
            </a:r>
            <a:endParaRPr lang="en-US" sz="81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Bloom ルート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フローラル・スウィート寄り / やわらかさ / 華やかさ / 甘さの出方を深掘り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574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0574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1498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ルート情報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1828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Q6A・Q7A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花のやわらかさと甘さの出方を、2ページ分として直接配置。</a:t>
            </a:r>
            <a:endParaRPr lang="en-US" sz="956" dirty="0"/>
          </a:p>
        </p:txBody>
      </p:sp>
      <p:sp>
        <p:nvSpPr>
          <p:cNvPr id="8" name="Shape 6"/>
          <p:cNvSpPr/>
          <p:nvPr/>
        </p:nvSpPr>
        <p:spPr>
          <a:xfrm>
            <a:off x="493776" y="2249424"/>
            <a:ext cx="1801368" cy="2029968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359152"/>
            <a:ext cx="15819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Prompt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797" dirty="0"/>
          </a:p>
        </p:txBody>
      </p:sp>
      <p:sp>
        <p:nvSpPr>
          <p:cNvPr id="10" name="Shape 8"/>
          <p:cNvSpPr/>
          <p:nvPr/>
        </p:nvSpPr>
        <p:spPr>
          <a:xfrm>
            <a:off x="493776" y="4443984"/>
            <a:ext cx="1801368" cy="150876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553712"/>
            <a:ext cx="158191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豆知識＜フローラル系＞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花の印象は“甘さ”だけではなく、“抜け感”や“透明感”の調整でも大きく変わる。</a:t>
            </a:r>
            <a:endParaRPr lang="en-US" sz="797" dirty="0"/>
          </a:p>
        </p:txBody>
      </p:sp>
      <p:sp>
        <p:nvSpPr>
          <p:cNvPr id="12" name="Shape 10"/>
          <p:cNvSpPr/>
          <p:nvPr/>
        </p:nvSpPr>
        <p:spPr>
          <a:xfrm>
            <a:off x="2606040" y="987552"/>
            <a:ext cx="4297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987552"/>
            <a:ext cx="42976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014984"/>
            <a:ext cx="4151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320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Q6A 身につけた時の印象は？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743200" y="1664208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664208"/>
            <a:ext cx="402336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1682496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A｜やわらかく華やか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16352" y="1920240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淡い花々、柔らかなカーテン越しの光、ピンクベージュと白の上品な重なり。やわらかく華やかだが派手すぎない。</a:t>
            </a:r>
            <a:endParaRPr lang="en-US" sz="817" dirty="0"/>
          </a:p>
        </p:txBody>
      </p:sp>
      <p:sp>
        <p:nvSpPr>
          <p:cNvPr id="20" name="Shape 18"/>
          <p:cNvSpPr/>
          <p:nvPr/>
        </p:nvSpPr>
        <p:spPr>
          <a:xfrm>
            <a:off x="2743200" y="2779776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779776"/>
            <a:ext cx="402336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798064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B｜親しみやすく甘い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816352" y="3035808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丸みのある花器、小さな白花、温かいベージュ、親しみやすいテーブル演出。甘さはあるが軽やか。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743200" y="3895344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895344"/>
            <a:ext cx="402336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913632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C｜上品で落ち着いた印象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816352" y="4151376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ベージュとグレージュ、花材を少し抑えた上質な静物。静かで整った大人っぽい空気感。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743200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818888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4892040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7114032" y="987552"/>
            <a:ext cx="4709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987552"/>
            <a:ext cx="47091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1014984"/>
            <a:ext cx="4562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251192" y="1298448"/>
            <a:ext cx="4434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Q7A 甘さの出方はどれが近いですか？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251192" y="1664208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1192" y="1664208"/>
            <a:ext cx="443484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82496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A｜最初にふわっと感じたい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324344" y="1920240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明るい花、軽い光、空気がふわっと広がるような柔らかさ。第一印象がすぐ立ち上がるイメージ。</a:t>
            </a:r>
            <a:endParaRPr lang="en-US" sz="817" dirty="0"/>
          </a:p>
        </p:txBody>
      </p:sp>
      <p:sp>
        <p:nvSpPr>
          <p:cNvPr id="41" name="Shape 39"/>
          <p:cNvSpPr/>
          <p:nvPr/>
        </p:nvSpPr>
        <p:spPr>
          <a:xfrm>
            <a:off x="7251192" y="2779776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1192" y="2779776"/>
            <a:ext cx="443484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2798064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B｜時間とともにやさしく出てほしい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324344" y="3035808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層のある布、淡い花、光の重なり。じんわりと広がる甘さを感じる柔らかな演出。</a:t>
            </a:r>
            <a:endParaRPr lang="en-US" sz="817" dirty="0"/>
          </a:p>
        </p:txBody>
      </p:sp>
      <p:sp>
        <p:nvSpPr>
          <p:cNvPr id="45" name="Shape 43"/>
          <p:cNvSpPr/>
          <p:nvPr/>
        </p:nvSpPr>
        <p:spPr>
          <a:xfrm>
            <a:off x="7251192" y="3895344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3895344"/>
            <a:ext cx="443484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13632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C｜甘さは控えめがいい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324344" y="4151376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白花とベージュ、抜け感のある余白、甘さを抑えた上品さ。軽やかで静かな印象。</a:t>
            </a:r>
            <a:endParaRPr lang="en-US" sz="817" dirty="0"/>
          </a:p>
        </p:txBody>
      </p:sp>
      <p:sp>
        <p:nvSpPr>
          <p:cNvPr id="49" name="Shape 47"/>
          <p:cNvSpPr/>
          <p:nvPr/>
        </p:nvSpPr>
        <p:spPr>
          <a:xfrm>
            <a:off x="7251192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9532620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0052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9811512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/ Air ルート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フレッシュ寄り / 透明感 / 清潔感 / 抜け感を深掘り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574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0574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1498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ルート情報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1828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Q6B・Q7B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透明感と清潔感の差分を、各画像枠ごとに直接配置。</a:t>
            </a:r>
            <a:endParaRPr lang="en-US" sz="956" dirty="0"/>
          </a:p>
        </p:txBody>
      </p:sp>
      <p:sp>
        <p:nvSpPr>
          <p:cNvPr id="8" name="Shape 6"/>
          <p:cNvSpPr/>
          <p:nvPr/>
        </p:nvSpPr>
        <p:spPr>
          <a:xfrm>
            <a:off x="493776" y="2249424"/>
            <a:ext cx="1801368" cy="2029968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359152"/>
            <a:ext cx="15819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Prompt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797" dirty="0"/>
          </a:p>
        </p:txBody>
      </p:sp>
      <p:sp>
        <p:nvSpPr>
          <p:cNvPr id="10" name="Shape 8"/>
          <p:cNvSpPr/>
          <p:nvPr/>
        </p:nvSpPr>
        <p:spPr>
          <a:xfrm>
            <a:off x="493776" y="4443984"/>
            <a:ext cx="1801368" cy="150876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553712"/>
            <a:ext cx="158191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豆知識＜シトラス・フレッシュ系＞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軽く感じる香りほど、香り方の“出方”や“残り方”で印象差が大きく出る。</a:t>
            </a:r>
            <a:endParaRPr lang="en-US" sz="797" dirty="0"/>
          </a:p>
        </p:txBody>
      </p:sp>
      <p:sp>
        <p:nvSpPr>
          <p:cNvPr id="12" name="Shape 10"/>
          <p:cNvSpPr/>
          <p:nvPr/>
        </p:nvSpPr>
        <p:spPr>
          <a:xfrm>
            <a:off x="2606040" y="987552"/>
            <a:ext cx="4297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987552"/>
            <a:ext cx="42976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014984"/>
            <a:ext cx="4151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320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Q6B どんな抜け感が好きですか？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743200" y="1664208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664208"/>
            <a:ext cx="402336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1682496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A｜みずみずしく軽い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16352" y="1920240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透明なガラス、水滴、淡い葉、白い窓辺。軽やかで空気が動くようなみずみずしさ。</a:t>
            </a:r>
            <a:endParaRPr lang="en-US" sz="817" dirty="0"/>
          </a:p>
        </p:txBody>
      </p:sp>
      <p:sp>
        <p:nvSpPr>
          <p:cNvPr id="20" name="Shape 18"/>
          <p:cNvSpPr/>
          <p:nvPr/>
        </p:nvSpPr>
        <p:spPr>
          <a:xfrm>
            <a:off x="2743200" y="2779776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779776"/>
            <a:ext cx="402336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798064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B｜清潔感がある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816352" y="3035808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白い布、整ったテーブル、無地ボトル、静かな朝の光。きれいに整う清潔感。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743200" y="3895344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895344"/>
            <a:ext cx="402336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913632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C｜少しだけシャープ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816352" y="4151376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ガラスと直線的な影、白とグレー、すっきりした構図。ややシャープだが冷たすぎない印象。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743200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818888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4892040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7114032" y="987552"/>
            <a:ext cx="4709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987552"/>
            <a:ext cx="47091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1014984"/>
            <a:ext cx="4562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251192" y="1298448"/>
            <a:ext cx="4434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Q7B 香りの印象はどれが近いですか？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251192" y="1664208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1192" y="1664208"/>
            <a:ext cx="443484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82496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A｜朝の空気みたいにすっきり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324344" y="1920240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白い窓、澄んだ光、透明な器、余分なもののない清潔な朝の室内。</a:t>
            </a:r>
            <a:endParaRPr lang="en-US" sz="817" dirty="0"/>
          </a:p>
        </p:txBody>
      </p:sp>
      <p:sp>
        <p:nvSpPr>
          <p:cNvPr id="41" name="Shape 39"/>
          <p:cNvSpPr/>
          <p:nvPr/>
        </p:nvSpPr>
        <p:spPr>
          <a:xfrm>
            <a:off x="7251192" y="2779776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1192" y="2779776"/>
            <a:ext cx="443484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2798064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B｜雨上がりのようにやわらかい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324344" y="3035808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水滴の残る葉、淡いグレーと白、しっとりした柔らかい空気感。雨上がりの静かな清涼感。</a:t>
            </a:r>
            <a:endParaRPr lang="en-US" sz="817" dirty="0"/>
          </a:p>
        </p:txBody>
      </p:sp>
      <p:sp>
        <p:nvSpPr>
          <p:cNvPr id="45" name="Shape 43"/>
          <p:cNvSpPr/>
          <p:nvPr/>
        </p:nvSpPr>
        <p:spPr>
          <a:xfrm>
            <a:off x="7251192" y="3895344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3895344"/>
            <a:ext cx="443484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13632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C｜静かに長く心地よい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324344" y="4151376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強く主張しない整った光、白とグレージュ、やわらかく続く余韻を感じる静かなテーブル演出。</a:t>
            </a:r>
            <a:endParaRPr lang="en-US" sz="817" dirty="0"/>
          </a:p>
        </p:txBody>
      </p:sp>
      <p:sp>
        <p:nvSpPr>
          <p:cNvPr id="49" name="Shape 47"/>
          <p:cNvSpPr/>
          <p:nvPr/>
        </p:nvSpPr>
        <p:spPr>
          <a:xfrm>
            <a:off x="7251192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9532620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0052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9811512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/ Deep ルート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ウッディ・スパイシー寄り / 深み / 落ち着き / 余韻を深掘り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574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0574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1498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ルート情報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1828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Q6C・Q7C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深さを重くしすぎず、各枠の差を見た瞬間に分かる配置。</a:t>
            </a:r>
            <a:endParaRPr lang="en-US" sz="956" dirty="0"/>
          </a:p>
        </p:txBody>
      </p:sp>
      <p:sp>
        <p:nvSpPr>
          <p:cNvPr id="8" name="Shape 6"/>
          <p:cNvSpPr/>
          <p:nvPr/>
        </p:nvSpPr>
        <p:spPr>
          <a:xfrm>
            <a:off x="493776" y="2249424"/>
            <a:ext cx="1801368" cy="2029968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359152"/>
            <a:ext cx="15819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Prompt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797" dirty="0"/>
          </a:p>
        </p:txBody>
      </p:sp>
      <p:sp>
        <p:nvSpPr>
          <p:cNvPr id="10" name="Shape 8"/>
          <p:cNvSpPr/>
          <p:nvPr/>
        </p:nvSpPr>
        <p:spPr>
          <a:xfrm>
            <a:off x="493776" y="4443984"/>
            <a:ext cx="1801368" cy="150876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553712"/>
            <a:ext cx="158191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豆知識＜ウッディ系＞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深い香りは“重い”だけでなく、光や余白の入れ方で軽さも同居できる。</a:t>
            </a:r>
            <a:endParaRPr lang="en-US" sz="797" dirty="0"/>
          </a:p>
        </p:txBody>
      </p:sp>
      <p:sp>
        <p:nvSpPr>
          <p:cNvPr id="12" name="Shape 10"/>
          <p:cNvSpPr/>
          <p:nvPr/>
        </p:nvSpPr>
        <p:spPr>
          <a:xfrm>
            <a:off x="2606040" y="987552"/>
            <a:ext cx="4297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987552"/>
            <a:ext cx="42976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014984"/>
            <a:ext cx="4151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320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Q6C 深みの方向はどれが好きですか？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743200" y="1664208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664208"/>
            <a:ext cx="402336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1682496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A｜木のぬくもり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16352" y="1920240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木の天板、温かみのある茶色、柔らかな影、自然素材。ぬくもりのある深さ。</a:t>
            </a:r>
            <a:endParaRPr lang="en-US" sz="817" dirty="0"/>
          </a:p>
        </p:txBody>
      </p:sp>
      <p:sp>
        <p:nvSpPr>
          <p:cNvPr id="20" name="Shape 18"/>
          <p:cNvSpPr/>
          <p:nvPr/>
        </p:nvSpPr>
        <p:spPr>
          <a:xfrm>
            <a:off x="2743200" y="2779776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779776"/>
            <a:ext cx="402336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798064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B｜静かな落ち着き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816352" y="3035808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深いグリーン、余白のある静かな構図、抑えた光。整った落ち着きと静けさ。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743200" y="3895344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895344"/>
            <a:ext cx="402336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913632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C｜個性のある刺激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816352" y="4151376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スパイスを連想させる素材、少し強い影、深い色調。強すぎず小さな刺激がある上質な空気感。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743200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818888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4892040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7114032" y="987552"/>
            <a:ext cx="4709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987552"/>
            <a:ext cx="47091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1014984"/>
            <a:ext cx="4562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251192" y="1298448"/>
            <a:ext cx="4434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Q7C 余韻はどう残ってほしいですか？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251192" y="1664208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1192" y="1664208"/>
            <a:ext cx="443484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82496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A｜すっと消えて軽やか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324344" y="1920240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深みはあるが抜け感もある木と光。後味が軽い印象の静かな構図。</a:t>
            </a:r>
            <a:endParaRPr lang="en-US" sz="817" dirty="0"/>
          </a:p>
        </p:txBody>
      </p:sp>
      <p:sp>
        <p:nvSpPr>
          <p:cNvPr id="41" name="Shape 39"/>
          <p:cNvSpPr/>
          <p:nvPr/>
        </p:nvSpPr>
        <p:spPr>
          <a:xfrm>
            <a:off x="7251192" y="2779776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1192" y="2779776"/>
            <a:ext cx="443484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2798064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B｜じんわり変化してほしい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324344" y="3035808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光と影が重なるテーブル、ゆるやかな変化を感じる花材と木の組み合わせ。</a:t>
            </a:r>
            <a:endParaRPr lang="en-US" sz="817" dirty="0"/>
          </a:p>
        </p:txBody>
      </p:sp>
      <p:sp>
        <p:nvSpPr>
          <p:cNvPr id="45" name="Shape 43"/>
          <p:cNvSpPr/>
          <p:nvPr/>
        </p:nvSpPr>
        <p:spPr>
          <a:xfrm>
            <a:off x="7251192" y="3895344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3895344"/>
            <a:ext cx="443484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13632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C｜最後に深く残ってほしい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324344" y="4151376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ダークブラウンと深緑、抑えた光、余白のある静かな深さ。長い余韻を感じる上質な演出。</a:t>
            </a:r>
            <a:endParaRPr lang="en-US" sz="817" dirty="0"/>
          </a:p>
        </p:txBody>
      </p:sp>
      <p:sp>
        <p:nvSpPr>
          <p:cNvPr id="49" name="Shape 47"/>
          <p:cNvSpPr/>
          <p:nvPr/>
        </p:nvSpPr>
        <p:spPr>
          <a:xfrm>
            <a:off x="7251192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9532620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0052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9811512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/ Exploratory ルート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0624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傾向が割れる / 曖昧 / 迷い・散り・冷やかしも拾う補助ルート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574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0574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1498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ルート情報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1828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Q6D・Q7D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中庸トーンの差分を、迷わず使えるよう各枠に直接配置。</a:t>
            </a:r>
            <a:endParaRPr lang="en-US" sz="956" dirty="0"/>
          </a:p>
        </p:txBody>
      </p:sp>
      <p:sp>
        <p:nvSpPr>
          <p:cNvPr id="8" name="Shape 6"/>
          <p:cNvSpPr/>
          <p:nvPr/>
        </p:nvSpPr>
        <p:spPr>
          <a:xfrm>
            <a:off x="493776" y="2249424"/>
            <a:ext cx="1801368" cy="2029968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359152"/>
            <a:ext cx="15819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Prompt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797" dirty="0"/>
          </a:p>
        </p:txBody>
      </p:sp>
      <p:sp>
        <p:nvSpPr>
          <p:cNvPr id="10" name="Shape 8"/>
          <p:cNvSpPr/>
          <p:nvPr/>
        </p:nvSpPr>
        <p:spPr>
          <a:xfrm>
            <a:off x="493776" y="4443984"/>
            <a:ext cx="1801368" cy="1508760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553712"/>
            <a:ext cx="158191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豆知識＜探索ルート＞</a:t>
            </a:r>
            <a:endParaRPr lang="en-US" sz="797" dirty="0"/>
          </a:p>
          <a:p>
            <a:pPr algn="l" indent="0" marL="0">
              <a:buNone/>
            </a:pPr>
            <a:r>
              <a:rPr lang="en-US" sz="79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迷いがある時は、“どれが好きか”より“まず何から試したいか”で決めると進みやすい。</a:t>
            </a:r>
            <a:endParaRPr lang="en-US" sz="797" dirty="0"/>
          </a:p>
        </p:txBody>
      </p:sp>
      <p:sp>
        <p:nvSpPr>
          <p:cNvPr id="12" name="Shape 10"/>
          <p:cNvSpPr/>
          <p:nvPr/>
        </p:nvSpPr>
        <p:spPr>
          <a:xfrm>
            <a:off x="2606040" y="987552"/>
            <a:ext cx="4297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987552"/>
            <a:ext cx="42976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014984"/>
            <a:ext cx="4151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3200" y="1298448"/>
            <a:ext cx="4023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Q6D まず試したい方向は？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743200" y="1664208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664208"/>
            <a:ext cx="402336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1682496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A｜花や甘さのやさしさ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816352" y="1920240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淡い花、ベージュ、やわらかい光。Bloom要素を薄めに入れた中庸な印象。</a:t>
            </a:r>
            <a:endParaRPr lang="en-US" sz="817" dirty="0"/>
          </a:p>
        </p:txBody>
      </p:sp>
      <p:sp>
        <p:nvSpPr>
          <p:cNvPr id="20" name="Shape 18"/>
          <p:cNvSpPr/>
          <p:nvPr/>
        </p:nvSpPr>
        <p:spPr>
          <a:xfrm>
            <a:off x="2743200" y="2779776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779776"/>
            <a:ext cx="402336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798064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B｜透明感のある軽さ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816352" y="3035808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白い窓辺、透明な器、水のニュアンス。Air要素を薄めに入れた中庸な印象。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743200" y="3895344"/>
            <a:ext cx="402336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895344"/>
            <a:ext cx="402336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913632"/>
            <a:ext cx="38953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C｜木やスパイスの深み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816352" y="4151376"/>
            <a:ext cx="38770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木と深緑、静かな影。Deep要素を薄めに入れた中庸な印象。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743200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818888" y="5376672"/>
            <a:ext cx="194767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413248"/>
            <a:ext cx="1892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4892040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7114032" y="987552"/>
            <a:ext cx="4709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987552"/>
            <a:ext cx="47091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1014984"/>
            <a:ext cx="4562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このページで実際に画像が入る3枠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251192" y="1298448"/>
            <a:ext cx="4434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Q7D 香りの残り方は？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251192" y="1664208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1192" y="1664208"/>
            <a:ext cx="4434840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82496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A｜ふわっと軽く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324344" y="1920240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空気が軽く流れるような花と光。重さのない軽い残り方。</a:t>
            </a:r>
            <a:endParaRPr lang="en-US" sz="817" dirty="0"/>
          </a:p>
        </p:txBody>
      </p:sp>
      <p:sp>
        <p:nvSpPr>
          <p:cNvPr id="41" name="Shape 39"/>
          <p:cNvSpPr/>
          <p:nvPr/>
        </p:nvSpPr>
        <p:spPr>
          <a:xfrm>
            <a:off x="7251192" y="2779776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1192" y="2779776"/>
            <a:ext cx="4434840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2798064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B｜じんわり心地よく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324344" y="3035808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温度のある布と花材、やさしく続く心地よさ。中庸でやわらかな印象。</a:t>
            </a:r>
            <a:endParaRPr lang="en-US" sz="817" dirty="0"/>
          </a:p>
        </p:txBody>
      </p:sp>
      <p:sp>
        <p:nvSpPr>
          <p:cNvPr id="45" name="Shape 43"/>
          <p:cNvSpPr/>
          <p:nvPr/>
        </p:nvSpPr>
        <p:spPr>
          <a:xfrm>
            <a:off x="7251192" y="3895344"/>
            <a:ext cx="4434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3895344"/>
            <a:ext cx="4434840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13632"/>
            <a:ext cx="43068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C｜余韻を残して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324344" y="4151376"/>
            <a:ext cx="42885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深すぎない影と余白、少しだけ残る気配。中庸トーンの静かな余韻。</a:t>
            </a:r>
            <a:endParaRPr lang="en-US" sz="817" dirty="0"/>
          </a:p>
        </p:txBody>
      </p:sp>
      <p:sp>
        <p:nvSpPr>
          <p:cNvPr id="49" name="Shape 47"/>
          <p:cNvSpPr/>
          <p:nvPr/>
        </p:nvSpPr>
        <p:spPr>
          <a:xfrm>
            <a:off x="7251192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9532620" y="5376672"/>
            <a:ext cx="2153412" cy="310896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0052" y="5413248"/>
            <a:ext cx="20985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9811512" y="1024128"/>
            <a:ext cx="1828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</a:t>
            </a:r>
            <a:endParaRPr lang="en-US" sz="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今日の仕上がり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783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7830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14984"/>
            <a:ext cx="16367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STEP2 分岐 + 最終1問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26464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ルート別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837944"/>
            <a:ext cx="15636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11096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ルート別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563624" cy="411480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95728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今日の仕上がり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87552"/>
            <a:ext cx="65653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987552"/>
            <a:ext cx="6565392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014984"/>
            <a:ext cx="64190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固定回答パネル / 画像が入る位置にPromptを直接配置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487168" y="129844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今日の仕上がりでいちばん近いのは？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7168" y="1682496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7168" y="1682496"/>
            <a:ext cx="6254496" cy="219456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7007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A｜軽やかにまとめたい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560320" y="1938528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白と淡いブルー、軽い光、透明なガラス、空気が抜けるような軽やかさ。</a:t>
            </a:r>
            <a:endParaRPr lang="en-US" sz="817" dirty="0"/>
          </a:p>
        </p:txBody>
      </p:sp>
      <p:sp>
        <p:nvSpPr>
          <p:cNvPr id="20" name="Shape 18"/>
          <p:cNvSpPr/>
          <p:nvPr/>
        </p:nvSpPr>
        <p:spPr>
          <a:xfrm>
            <a:off x="2487168" y="2761488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2761488"/>
            <a:ext cx="6254496" cy="219456"/>
          </a:xfrm>
          <a:prstGeom prst="rect">
            <a:avLst/>
          </a:prstGeom>
          <a:solidFill>
            <a:srgbClr val="EAF1F6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277977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B｜やわらかく心地よくしたい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0320" y="3017520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ベージュ、白花、柔らかな布、やさしい昼光。肩の力が抜けるような安心感。</a:t>
            </a:r>
            <a:endParaRPr lang="en-US" sz="817" dirty="0"/>
          </a:p>
        </p:txBody>
      </p:sp>
      <p:sp>
        <p:nvSpPr>
          <p:cNvPr id="24" name="Shape 22"/>
          <p:cNvSpPr/>
          <p:nvPr/>
        </p:nvSpPr>
        <p:spPr>
          <a:xfrm>
            <a:off x="2487168" y="3840480"/>
            <a:ext cx="6254496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3840480"/>
            <a:ext cx="6254496" cy="219456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385876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C｜少し印象を残したい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560320" y="4096512"/>
            <a:ext cx="6108192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[共通接頭文（選択肢画像）] 深すぎないブラウン、整った影、静かな存在感。強すぎず、少しだけ記憶に残る印象。</a:t>
            </a:r>
            <a:endParaRPr lang="en-US" sz="817" dirty="0"/>
          </a:p>
        </p:txBody>
      </p:sp>
      <p:sp>
        <p:nvSpPr>
          <p:cNvPr id="28" name="Shape 26"/>
          <p:cNvSpPr/>
          <p:nvPr/>
        </p:nvSpPr>
        <p:spPr>
          <a:xfrm>
            <a:off x="2487168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中立｜全部好き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907024" y="5230368"/>
            <a:ext cx="2834640" cy="32918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34456" y="5266944"/>
            <a:ext cx="27797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中立｜この中にはない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2487168" y="6016752"/>
            <a:ext cx="6254496" cy="237744"/>
          </a:xfrm>
          <a:prstGeom prst="rect">
            <a:avLst/>
          </a:prstGeom>
          <a:solidFill>
            <a:srgbClr val="FAF8F4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6062472"/>
            <a:ext cx="6035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今日の気分にいちばん近いものを選んでください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6355080" y="1024128"/>
            <a:ext cx="2286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※各Promptは Slide2 の共通接頭文込みで使用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144000" y="987552"/>
            <a:ext cx="267919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0" y="987552"/>
            <a:ext cx="2679192" cy="256032"/>
          </a:xfrm>
          <a:prstGeom prst="rect">
            <a:avLst/>
          </a:prstGeom>
          <a:solidFill>
            <a:srgbClr val="E8EEE8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101498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 / この枠専用Prompt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9235440" y="1298448"/>
            <a:ext cx="2496312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工房の提案カウンターをやや近めに切り取った内観。無地ボトル、花材、蒸留器の一部、減圧蒸留装置のガラス部分、整った作業台。人物なし。最終確認ページなので、少しだけ“これから仕上げる”期待感がある。</a:t>
            </a:r>
            <a:endParaRPr lang="en-US" sz="807" dirty="0"/>
          </a:p>
        </p:txBody>
      </p:sp>
      <p:sp>
        <p:nvSpPr>
          <p:cNvPr id="39" name="Shape 37"/>
          <p:cNvSpPr/>
          <p:nvPr/>
        </p:nvSpPr>
        <p:spPr>
          <a:xfrm>
            <a:off x="9144000" y="5148072"/>
            <a:ext cx="26791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5148072"/>
            <a:ext cx="2679192" cy="256032"/>
          </a:xfrm>
          <a:prstGeom prst="rect">
            <a:avLst/>
          </a:prstGeom>
          <a:solidFill>
            <a:srgbClr val="F3ECE7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5175504"/>
            <a:ext cx="2532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右下豆知識 / 完成文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9235440" y="5449824"/>
            <a:ext cx="249631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豆知識＜ラストノート＞</a:t>
            </a:r>
            <a:endParaRPr lang="en-US" sz="817" dirty="0"/>
          </a:p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最後に長く残る香りは、その日全体の印象を静かに決める“余韻”の役割を持つ。</a:t>
            </a:r>
            <a:endParaRPr lang="en-US" sz="81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店舗画像プロンプト集（右サイド用まとめ）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20624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33272"/>
            <a:ext cx="40599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右サイド店舗画像の基本方針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493776" y="1316736"/>
            <a:ext cx="40416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店舗画像は全ページ共通で人物不可。内観・作業台・蒸留器・減圧蒸留装置・無地ボトル・花材を軸に、ページごとに少しずつ温度感を変える。</a:t>
            </a:r>
            <a:endParaRPr lang="en-US" sz="957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40280"/>
            <a:ext cx="420624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267712"/>
            <a:ext cx="40599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共通プロンプト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493776" y="2551176"/>
            <a:ext cx="4041648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日本の上質な香り工房。白壁、木の作業台、ガラス器具、無地ボトル、蒸留器、減圧蒸留装置、花材。人物なし。自然光、整った構図、上品で静かな空気感。</a:t>
            </a:r>
            <a:endParaRPr lang="en-US" sz="877" dirty="0"/>
          </a:p>
        </p:txBody>
      </p:sp>
      <p:sp>
        <p:nvSpPr>
          <p:cNvPr id="11" name="Shape 9"/>
          <p:cNvSpPr/>
          <p:nvPr/>
        </p:nvSpPr>
        <p:spPr>
          <a:xfrm>
            <a:off x="411480" y="44348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434840"/>
            <a:ext cx="420624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4462272"/>
            <a:ext cx="40599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ページ別差分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93776" y="4745736"/>
            <a:ext cx="404164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固定5問ページ：初見でも入りやすい、明るく安心感のある内観</a:t>
            </a:r>
            <a:endParaRPr lang="en-US" sz="887" dirty="0"/>
          </a:p>
          <a:p>
            <a:pPr algn="l" indent="0" marL="0">
              <a:buNone/>
            </a:pPr>
            <a:endParaRPr lang="en-US" sz="887" dirty="0"/>
          </a:p>
          <a:p>
            <a:pPr algn="l" indent="0" marL="0">
              <a:buNone/>
            </a:pPr>
            <a:r>
              <a:rPr lang="en-US" sz="88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分岐ページ：少しだけ専門性を感じる、器具が見える構図</a:t>
            </a:r>
            <a:endParaRPr lang="en-US" sz="887" dirty="0"/>
          </a:p>
          <a:p>
            <a:pPr algn="l" indent="0" marL="0">
              <a:buNone/>
            </a:pPr>
            <a:endParaRPr lang="en-US" sz="887" dirty="0"/>
          </a:p>
          <a:p>
            <a:pPr algn="l" indent="0" marL="0">
              <a:buNone/>
            </a:pPr>
            <a:r>
              <a:rPr lang="en-US" sz="88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最終質問ページ：提案準備が整っている期待感のあるカウンター寄り構図</a:t>
            </a:r>
            <a:endParaRPr lang="en-US" sz="887" dirty="0"/>
          </a:p>
        </p:txBody>
      </p:sp>
      <p:sp>
        <p:nvSpPr>
          <p:cNvPr id="15" name="Shape 13"/>
          <p:cNvSpPr/>
          <p:nvPr/>
        </p:nvSpPr>
        <p:spPr>
          <a:xfrm>
            <a:off x="4882896" y="1005840"/>
            <a:ext cx="285292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005840"/>
            <a:ext cx="2852928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033272"/>
            <a:ext cx="2706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固定5問ページ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965192" y="1316736"/>
            <a:ext cx="26883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5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明るい昼の時間帯。白壁、木の作業台、ガラス器具、無地ボトル、少量の花材。初回アンケートページなので、清潔感と安心感を優先。蒸留器は奥に控えめに見える程度。温かいベージュと白を基調に、初見でも入りやすい空気感。</a:t>
            </a:r>
            <a:endParaRPr lang="en-US" sz="805" dirty="0"/>
          </a:p>
        </p:txBody>
      </p:sp>
      <p:sp>
        <p:nvSpPr>
          <p:cNvPr id="19" name="Shape 17"/>
          <p:cNvSpPr/>
          <p:nvPr/>
        </p:nvSpPr>
        <p:spPr>
          <a:xfrm>
            <a:off x="7973568" y="1005840"/>
            <a:ext cx="376732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1005840"/>
            <a:ext cx="3767328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033272"/>
            <a:ext cx="36210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分岐ページ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055864" y="1316736"/>
            <a:ext cx="36027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5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STEP2は“深掘り”の段階なので、STEP1より少し奥行きのある工房内観。作業台の上に無地ボトル、蒸留器、減圧蒸留装置の一部、ガラス器具、花材。人物なし。少しだけ専門性を感じるが、難しすぎず上質。</a:t>
            </a:r>
            <a:endParaRPr lang="en-US" sz="805" dirty="0"/>
          </a:p>
        </p:txBody>
      </p:sp>
      <p:sp>
        <p:nvSpPr>
          <p:cNvPr id="23" name="Shape 21"/>
          <p:cNvSpPr/>
          <p:nvPr/>
        </p:nvSpPr>
        <p:spPr>
          <a:xfrm>
            <a:off x="4882896" y="3310128"/>
            <a:ext cx="6858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3310128"/>
            <a:ext cx="68580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337560"/>
            <a:ext cx="67116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最終質問ページ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965192" y="3621024"/>
            <a:ext cx="6693408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[共通接頭文（店舗画像）] 工房の提案カウンターをやや近めに切り取った内観。無地ボトル、花材、蒸留器の一部、減圧蒸留装置のガラス部分、整った作業台。人物なし。最終確認ページなので、少しだけ“これから仕上げる”期待感がある。</a:t>
            </a:r>
            <a:endParaRPr lang="en-US" sz="81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01168"/>
            <a:ext cx="8595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実装メモ（PPT / Googleスライド互換）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2461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24612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33272"/>
            <a:ext cx="30998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実装ルール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493776" y="1316736"/>
            <a:ext cx="3081528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フォントは Arial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端ギリギリに配置しない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図形は 四角・丸・矢印のみ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箇条書きは単純にする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表は複雑にしない</a:t>
            </a:r>
            <a:endParaRPr lang="en-US" sz="967" dirty="0"/>
          </a:p>
        </p:txBody>
      </p:sp>
      <p:sp>
        <p:nvSpPr>
          <p:cNvPr id="7" name="Shape 5"/>
          <p:cNvSpPr/>
          <p:nvPr/>
        </p:nvSpPr>
        <p:spPr>
          <a:xfrm>
            <a:off x="3858768" y="1005840"/>
            <a:ext cx="33375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8768" y="1005840"/>
            <a:ext cx="333756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033272"/>
            <a:ext cx="31912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画像運用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3941064" y="1316736"/>
            <a:ext cx="3172968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画像は 1536×1024生成 → 中央4.5:1トリミング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選択肢画像は 主たる3択のみ生成</a:t>
            </a:r>
            <a:endParaRPr lang="en-US" sz="967" dirty="0"/>
          </a:p>
          <a:p>
            <a:pPr algn="l" indent="0" marL="0">
              <a:buNone/>
            </a:pPr>
            <a:r>
              <a:rPr lang="en-US" sz="96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中立ボタンは画像なし</a:t>
            </a:r>
            <a:endParaRPr lang="en-US" sz="967" dirty="0"/>
          </a:p>
        </p:txBody>
      </p:sp>
      <p:sp>
        <p:nvSpPr>
          <p:cNvPr id="11" name="Shape 9"/>
          <p:cNvSpPr/>
          <p:nvPr/>
        </p:nvSpPr>
        <p:spPr>
          <a:xfrm>
            <a:off x="7388352" y="1005840"/>
            <a:ext cx="43434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8352" y="1005840"/>
            <a:ext cx="43434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1504" y="1033272"/>
            <a:ext cx="4197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資料化ルール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470648" y="1316736"/>
            <a:ext cx="4178808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スクショの貼り付けではなく各ページをしっかりと生成する</a:t>
            </a:r>
            <a:endParaRPr lang="en-US" sz="937" dirty="0"/>
          </a:p>
          <a:p>
            <a:pPr algn="l" indent="0" marL="0">
              <a:buNone/>
            </a:pPr>
            <a:r>
              <a:rPr lang="en-US" sz="93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ユーザーの手による各所の細かい修正を可能な形での生成</a:t>
            </a:r>
            <a:endParaRPr lang="en-US" sz="937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3840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83280"/>
            <a:ext cx="384048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410712"/>
            <a:ext cx="36941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運用枚数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93776" y="3694176"/>
            <a:ext cx="367588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固定15枚 + 分岐24枚 + Q8の3枚 = 合計42枚の選択肢画像が必要。</a:t>
            </a:r>
            <a:endParaRPr lang="en-US" sz="937" dirty="0"/>
          </a:p>
        </p:txBody>
      </p:sp>
      <p:sp>
        <p:nvSpPr>
          <p:cNvPr id="19" name="Shape 17"/>
          <p:cNvSpPr/>
          <p:nvPr/>
        </p:nvSpPr>
        <p:spPr>
          <a:xfrm>
            <a:off x="4443984" y="3383280"/>
            <a:ext cx="72877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3383280"/>
            <a:ext cx="7287768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3410712"/>
            <a:ext cx="71414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PPT末尾に置く短い補足文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526280" y="3694176"/>
            <a:ext cx="71231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このアンケートは“診断”ではなく“香りづくりの準備”です。</a:t>
            </a:r>
            <a:endParaRPr lang="en-US" sz="917" dirty="0"/>
          </a:p>
          <a:p>
            <a:pPr algn="l" indent="0" marL="0">
              <a:buNone/>
            </a:pPr>
            <a:r>
              <a:rPr lang="en-US" sz="91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答えを固定するためではなく、当日の提案を始めやすくするために使います。</a:t>
            </a:r>
            <a:endParaRPr lang="en-US" sz="917" dirty="0"/>
          </a:p>
        </p:txBody>
      </p:sp>
      <p:sp>
        <p:nvSpPr>
          <p:cNvPr id="23" name="Shape 21"/>
          <p:cNvSpPr/>
          <p:nvPr/>
        </p:nvSpPr>
        <p:spPr>
          <a:xfrm>
            <a:off x="411480" y="4617720"/>
            <a:ext cx="10972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617720"/>
            <a:ext cx="10972800" cy="256032"/>
          </a:xfrm>
          <a:prstGeom prst="rect">
            <a:avLst/>
          </a:prstGeom>
          <a:solidFill>
            <a:srgbClr val="E8F0EB"/>
          </a:solidFill>
          <a:ln w="12700">
            <a:solidFill>
              <a:srgbClr val="D7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645152"/>
            <a:ext cx="9509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分岐前コピー / STEP1下部コピー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93776" y="4928616"/>
            <a:ext cx="95097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ここまでの回答をもとに、あと少しだけお聞きします。</a:t>
            </a:r>
            <a:endParaRPr lang="en-US" sz="827" dirty="0"/>
          </a:p>
          <a:p>
            <a:pPr algn="l" indent="0" marL="0">
              <a:buNone/>
            </a:pPr>
            <a:endParaRPr lang="en-US" sz="827" dirty="0"/>
          </a:p>
          <a:p>
            <a:pPr algn="l" indent="0" marL="0">
              <a:buNone/>
            </a:pPr>
            <a:r>
              <a:rPr lang="en-US" sz="827" dirty="0">
                <a:solidFill>
                  <a:srgbClr val="2A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5問すべて答えると、あなた向けの追加質問へ進みます。</a:t>
            </a:r>
            <a:endParaRPr lang="en-US" sz="827" dirty="0"/>
          </a:p>
        </p:txBody>
      </p:sp>
      <p:sp>
        <p:nvSpPr>
          <p:cNvPr id="27" name="Text 25"/>
          <p:cNvSpPr/>
          <p:nvPr/>
        </p:nvSpPr>
        <p:spPr>
          <a:xfrm>
            <a:off x="438912" y="5897880"/>
            <a:ext cx="8595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72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最終方針：ワイヤーフレームの各枠に、その枠専用の情報を直接流し込む。左側に右側用Promptを置かない。右下豆知識は完成文で入れる。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香りワークショップ PC版アンケートUIワイヤーフレームと画像生成プロンプト（更新版）</dc:title>
  <dc:subject>香りワークショップ PC版アンケートUIワイヤーフレーム</dc:subject>
  <dc:creator>OpenAI</dc:creator>
  <cp:lastModifiedBy>OpenAI</cp:lastModifiedBy>
  <cp:revision>1</cp:revision>
  <dcterms:created xsi:type="dcterms:W3CDTF">2026-03-07T16:19:59Z</dcterms:created>
  <dcterms:modified xsi:type="dcterms:W3CDTF">2026-03-07T16:19:59Z</dcterms:modified>
</cp:coreProperties>
</file>